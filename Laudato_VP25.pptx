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32"/>
  </p:notesMasterIdLst>
  <p:sldIdLst>
    <p:sldId id="260" r:id="rId2"/>
    <p:sldId id="261" r:id="rId3"/>
    <p:sldId id="263" r:id="rId4"/>
    <p:sldId id="264" r:id="rId5"/>
    <p:sldId id="265" r:id="rId6"/>
    <p:sldId id="282" r:id="rId7"/>
    <p:sldId id="283" r:id="rId8"/>
    <p:sldId id="291" r:id="rId9"/>
    <p:sldId id="267" r:id="rId10"/>
    <p:sldId id="268" r:id="rId11"/>
    <p:sldId id="269" r:id="rId12"/>
    <p:sldId id="270" r:id="rId13"/>
    <p:sldId id="274" r:id="rId14"/>
    <p:sldId id="284" r:id="rId15"/>
    <p:sldId id="287" r:id="rId16"/>
    <p:sldId id="285" r:id="rId17"/>
    <p:sldId id="288" r:id="rId18"/>
    <p:sldId id="275" r:id="rId19"/>
    <p:sldId id="292" r:id="rId20"/>
    <p:sldId id="293" r:id="rId21"/>
    <p:sldId id="294" r:id="rId22"/>
    <p:sldId id="276" r:id="rId23"/>
    <p:sldId id="277" r:id="rId24"/>
    <p:sldId id="278" r:id="rId25"/>
    <p:sldId id="279" r:id="rId26"/>
    <p:sldId id="280" r:id="rId27"/>
    <p:sldId id="281" r:id="rId28"/>
    <p:sldId id="271" r:id="rId29"/>
    <p:sldId id="272" r:id="rId30"/>
    <p:sldId id="273" r:id="rId31"/>
  </p:sldIdLst>
  <p:sldSz cx="12192000" cy="6858000"/>
  <p:notesSz cx="6858000" cy="9144000"/>
  <p:embeddedFontLst>
    <p:embeddedFont>
      <p:font typeface="Figtree" panose="020B0604020202020204" charset="0"/>
      <p:regular r:id="rId33"/>
      <p:bold r:id="rId34"/>
      <p:italic r:id="rId35"/>
      <p:boldItalic r:id="rId36"/>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27"/>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2026-03-26</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‹N›</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2026-03-26</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‹N›</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2026-03-26</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‹N›</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2026-03-26</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‹N›</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image">
    <p:bg>
      <p:bgPr>
        <a:solidFill>
          <a:schemeClr val="accent4"/>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rgbClr val="00479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2026-03-26</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rgbClr val="00479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rPr>
              <a:t>Presentation </a:t>
            </a:r>
            <a:r>
              <a:rPr kumimoji="0" lang="sv-SE" sz="700" b="0" i="0" u="none" strike="noStrike" kern="1200" cap="none" spc="0" normalizeH="0" baseline="0" noProof="0" dirty="0" err="1">
                <a:ln>
                  <a:noFill/>
                </a:ln>
                <a:solidFill>
                  <a:srgbClr val="004791"/>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rgbClr val="00479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1"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pic>
        <p:nvPicPr>
          <p:cNvPr id="12"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5" y="0"/>
            <a:ext cx="12192000" cy="6858000"/>
          </a:xfrm>
          <a:prstGeom prst="rect">
            <a:avLst/>
          </a:prstGeom>
        </p:spPr>
      </p:pic>
      <p:sp>
        <p:nvSpPr>
          <p:cNvPr id="13" name="Text Placeholder 8"/>
          <p:cNvSpPr>
            <a:spLocks noGrp="1"/>
          </p:cNvSpPr>
          <p:nvPr>
            <p:ph type="body" sz="quarter" idx="14" hasCustomPrompt="1"/>
          </p:nvPr>
        </p:nvSpPr>
        <p:spPr>
          <a:xfrm>
            <a:off x="596322" y="3333750"/>
            <a:ext cx="7218363" cy="1742546"/>
          </a:xfrm>
        </p:spPr>
        <p:txBody>
          <a:bodyPr anchor="b"/>
          <a:lstStyle>
            <a:lvl1pPr marL="0" indent="0">
              <a:buNone/>
              <a:defRPr sz="6000" b="1">
                <a:solidFill>
                  <a:srgbClr val="000061"/>
                </a:solidFill>
              </a:defRPr>
            </a:lvl1pPr>
          </a:lstStyle>
          <a:p>
            <a:r>
              <a:rPr lang="en-US" dirty="0"/>
              <a:t>Click to edit Master title style</a:t>
            </a:r>
            <a:endParaRPr lang="sv-SE" dirty="0"/>
          </a:p>
        </p:txBody>
      </p:sp>
      <p:pic>
        <p:nvPicPr>
          <p:cNvPr id="14"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7330" y="226116"/>
            <a:ext cx="960463" cy="1076212"/>
          </a:xfrm>
          <a:prstGeom prst="rect">
            <a:avLst/>
          </a:prstGeom>
        </p:spPr>
      </p:pic>
    </p:spTree>
    <p:extLst>
      <p:ext uri="{BB962C8B-B14F-4D97-AF65-F5344CB8AC3E}">
        <p14:creationId xmlns:p14="http://schemas.microsoft.com/office/powerpoint/2010/main" val="3281607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Title, image">
    <p:bg>
      <p:bgPr>
        <a:solidFill>
          <a:schemeClr val="accent4"/>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rgbClr val="00479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2026-03-26</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rgbClr val="00479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rPr>
              <a:t>Presentation </a:t>
            </a:r>
            <a:r>
              <a:rPr kumimoji="0" lang="sv-SE" sz="700" b="0" i="0" u="none" strike="noStrike" kern="1200" cap="none" spc="0" normalizeH="0" baseline="0" noProof="0" dirty="0" err="1">
                <a:ln>
                  <a:noFill/>
                </a:ln>
                <a:solidFill>
                  <a:srgbClr val="004791"/>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rgbClr val="00479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3"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5205"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it-IT"/>
              <a:t>Fare clic per modificare lo stile del titolo dello schema</a:t>
            </a:r>
            <a:endParaRPr lang="sv-SE" dirty="0"/>
          </a:p>
        </p:txBody>
      </p:sp>
      <p:sp>
        <p:nvSpPr>
          <p:cNvPr id="15"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pic>
        <p:nvPicPr>
          <p:cNvPr id="11"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330" y="226116"/>
            <a:ext cx="960463" cy="1076212"/>
          </a:xfrm>
          <a:prstGeom prst="rect">
            <a:avLst/>
          </a:prstGeom>
        </p:spPr>
      </p:pic>
    </p:spTree>
    <p:extLst>
      <p:ext uri="{BB962C8B-B14F-4D97-AF65-F5344CB8AC3E}">
        <p14:creationId xmlns:p14="http://schemas.microsoft.com/office/powerpoint/2010/main" val="1598055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_Title, image">
    <p:bg>
      <p:bgPr>
        <a:solidFill>
          <a:srgbClr val="EBE5E0"/>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rgbClr val="00479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2026-03-26</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rgbClr val="00479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rPr>
              <a:t>Presentation </a:t>
            </a:r>
            <a:r>
              <a:rPr kumimoji="0" lang="sv-SE" sz="700" b="0" i="0" u="none" strike="noStrike" kern="1200" cap="none" spc="0" normalizeH="0" baseline="0" noProof="0" dirty="0" err="1">
                <a:ln>
                  <a:noFill/>
                </a:ln>
                <a:solidFill>
                  <a:srgbClr val="004791"/>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rgbClr val="00479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pic>
        <p:nvPicPr>
          <p:cNvPr id="12"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3"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it-IT"/>
              <a:t>Fare clic per modificare lo stile del titolo dello schema</a:t>
            </a:r>
            <a:endParaRPr lang="sv-SE" dirty="0"/>
          </a:p>
        </p:txBody>
      </p:sp>
      <p:sp>
        <p:nvSpPr>
          <p:cNvPr id="14"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pic>
        <p:nvPicPr>
          <p:cNvPr id="11"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7330" y="226116"/>
            <a:ext cx="960463" cy="1076212"/>
          </a:xfrm>
          <a:prstGeom prst="rect">
            <a:avLst/>
          </a:prstGeom>
        </p:spPr>
      </p:pic>
    </p:spTree>
    <p:extLst>
      <p:ext uri="{BB962C8B-B14F-4D97-AF65-F5344CB8AC3E}">
        <p14:creationId xmlns:p14="http://schemas.microsoft.com/office/powerpoint/2010/main" val="3057597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Title, image">
    <p:bg>
      <p:bgPr>
        <a:solidFill>
          <a:srgbClr val="EBE5E0"/>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rgbClr val="00479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2026-03-26</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rgbClr val="00479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rPr>
              <a:t>Presentation </a:t>
            </a:r>
            <a:r>
              <a:rPr kumimoji="0" lang="sv-SE" sz="700" b="0" i="0" u="none" strike="noStrike" kern="1200" cap="none" spc="0" normalizeH="0" baseline="0" noProof="0" dirty="0" err="1">
                <a:ln>
                  <a:noFill/>
                </a:ln>
                <a:solidFill>
                  <a:srgbClr val="004791"/>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rgbClr val="00479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3"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5205"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it-IT"/>
              <a:t>Fare clic per modificare lo stile del titolo dello schema</a:t>
            </a:r>
            <a:endParaRPr lang="sv-SE" dirty="0"/>
          </a:p>
        </p:txBody>
      </p:sp>
      <p:sp>
        <p:nvSpPr>
          <p:cNvPr id="15"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pic>
        <p:nvPicPr>
          <p:cNvPr id="10"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330" y="226116"/>
            <a:ext cx="960463" cy="1076212"/>
          </a:xfrm>
          <a:prstGeom prst="rect">
            <a:avLst/>
          </a:prstGeom>
        </p:spPr>
      </p:pic>
    </p:spTree>
    <p:extLst>
      <p:ext uri="{BB962C8B-B14F-4D97-AF65-F5344CB8AC3E}">
        <p14:creationId xmlns:p14="http://schemas.microsoft.com/office/powerpoint/2010/main" val="2902983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7_Title, image">
    <p:bg>
      <p:bgPr>
        <a:solidFill>
          <a:srgbClr val="004791"/>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2026-03-26</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rPr>
              <a:t>Presentation </a:t>
            </a:r>
            <a:r>
              <a:rPr kumimoji="0" lang="sv-SE" sz="700" b="0" i="0" u="none" strike="noStrike" kern="1200" cap="none" spc="0" normalizeH="0" baseline="0" noProof="0" dirty="0" err="1">
                <a:ln>
                  <a:noFill/>
                </a:ln>
                <a:solidFill>
                  <a:srgbClr val="FFFFFF"/>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1"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pic>
        <p:nvPicPr>
          <p:cNvPr id="12"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5" y="0"/>
            <a:ext cx="12192000" cy="6858000"/>
          </a:xfrm>
          <a:prstGeom prst="rect">
            <a:avLst/>
          </a:prstGeom>
        </p:spPr>
      </p:pic>
      <p:sp>
        <p:nvSpPr>
          <p:cNvPr id="15" name="Text Placeholder 8"/>
          <p:cNvSpPr>
            <a:spLocks noGrp="1"/>
          </p:cNvSpPr>
          <p:nvPr>
            <p:ph type="body" sz="quarter" idx="14" hasCustomPrompt="1"/>
          </p:nvPr>
        </p:nvSpPr>
        <p:spPr>
          <a:xfrm>
            <a:off x="596322" y="3248025"/>
            <a:ext cx="7218363" cy="1828273"/>
          </a:xfrm>
        </p:spPr>
        <p:txBody>
          <a:bodyPr anchor="b"/>
          <a:lstStyle>
            <a:lvl1pPr marL="0" indent="0">
              <a:buNone/>
              <a:defRPr sz="6000" b="1">
                <a:solidFill>
                  <a:schemeClr val="bg1"/>
                </a:solidFill>
              </a:defRPr>
            </a:lvl1pPr>
          </a:lstStyle>
          <a:p>
            <a:r>
              <a:rPr lang="en-US" dirty="0"/>
              <a:t>Click to edit Master title style</a:t>
            </a:r>
            <a:endParaRPr lang="sv-SE" dirty="0"/>
          </a:p>
        </p:txBody>
      </p:sp>
      <p:pic>
        <p:nvPicPr>
          <p:cNvPr id="10"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7330" y="226116"/>
            <a:ext cx="960462" cy="1076212"/>
          </a:xfrm>
          <a:prstGeom prst="rect">
            <a:avLst/>
          </a:prstGeom>
        </p:spPr>
      </p:pic>
    </p:spTree>
    <p:extLst>
      <p:ext uri="{BB962C8B-B14F-4D97-AF65-F5344CB8AC3E}">
        <p14:creationId xmlns:p14="http://schemas.microsoft.com/office/powerpoint/2010/main" val="3131368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8_Title, image">
    <p:bg>
      <p:bgPr>
        <a:solidFill>
          <a:srgbClr val="004791"/>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2026-03-26</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rPr>
              <a:t>Presentation </a:t>
            </a:r>
            <a:r>
              <a:rPr kumimoji="0" lang="sv-SE" sz="700" b="0" i="0" u="none" strike="noStrike" kern="1200" cap="none" spc="0" normalizeH="0" baseline="0" noProof="0" dirty="0" err="1">
                <a:ln>
                  <a:noFill/>
                </a:ln>
                <a:solidFill>
                  <a:srgbClr val="FFFFFF"/>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3"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5205"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it-IT"/>
              <a:t>Fare clic per modificare lo stile del titolo dello schema</a:t>
            </a:r>
            <a:endParaRPr lang="sv-SE" dirty="0"/>
          </a:p>
        </p:txBody>
      </p:sp>
      <p:sp>
        <p:nvSpPr>
          <p:cNvPr id="15"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pic>
        <p:nvPicPr>
          <p:cNvPr id="10"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330" y="226116"/>
            <a:ext cx="960462" cy="1076212"/>
          </a:xfrm>
          <a:prstGeom prst="rect">
            <a:avLst/>
          </a:prstGeom>
        </p:spPr>
      </p:pic>
    </p:spTree>
    <p:extLst>
      <p:ext uri="{BB962C8B-B14F-4D97-AF65-F5344CB8AC3E}">
        <p14:creationId xmlns:p14="http://schemas.microsoft.com/office/powerpoint/2010/main" val="1149291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0_Title, image">
    <p:bg>
      <p:bgPr>
        <a:solidFill>
          <a:srgbClr val="000061"/>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2026-03-26</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rPr>
              <a:t>Presentation </a:t>
            </a:r>
            <a:r>
              <a:rPr kumimoji="0" lang="sv-SE" sz="700" b="0" i="0" u="none" strike="noStrike" kern="1200" cap="none" spc="0" normalizeH="0" baseline="0" noProof="0" dirty="0" err="1">
                <a:ln>
                  <a:noFill/>
                </a:ln>
                <a:solidFill>
                  <a:srgbClr val="FFFFFF"/>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1"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pic>
        <p:nvPicPr>
          <p:cNvPr id="12"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a:noFill/>
        </p:spPr>
      </p:pic>
      <p:sp>
        <p:nvSpPr>
          <p:cNvPr id="15" name="Text Placeholder 8"/>
          <p:cNvSpPr>
            <a:spLocks noGrp="1"/>
          </p:cNvSpPr>
          <p:nvPr>
            <p:ph type="body" sz="quarter" idx="14" hasCustomPrompt="1"/>
          </p:nvPr>
        </p:nvSpPr>
        <p:spPr>
          <a:xfrm>
            <a:off x="596322" y="3257550"/>
            <a:ext cx="7218363" cy="1818747"/>
          </a:xfrm>
        </p:spPr>
        <p:txBody>
          <a:bodyPr anchor="b"/>
          <a:lstStyle>
            <a:lvl1pPr marL="0" indent="0">
              <a:buNone/>
              <a:defRPr sz="6000" b="1">
                <a:solidFill>
                  <a:schemeClr val="bg1"/>
                </a:solidFill>
              </a:defRPr>
            </a:lvl1pPr>
          </a:lstStyle>
          <a:p>
            <a:r>
              <a:rPr lang="en-US" dirty="0"/>
              <a:t>Click to edit Master title style</a:t>
            </a:r>
            <a:endParaRPr lang="sv-SE" dirty="0"/>
          </a:p>
        </p:txBody>
      </p:sp>
      <p:pic>
        <p:nvPicPr>
          <p:cNvPr id="13"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7330" y="226116"/>
            <a:ext cx="960462" cy="1076212"/>
          </a:xfrm>
          <a:prstGeom prst="rect">
            <a:avLst/>
          </a:prstGeom>
        </p:spPr>
      </p:pic>
    </p:spTree>
    <p:extLst>
      <p:ext uri="{BB962C8B-B14F-4D97-AF65-F5344CB8AC3E}">
        <p14:creationId xmlns:p14="http://schemas.microsoft.com/office/powerpoint/2010/main" val="1231361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9_Title, image">
    <p:bg>
      <p:bgPr>
        <a:solidFill>
          <a:srgbClr val="000061"/>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2026-03-26</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rPr>
              <a:t>Presentation </a:t>
            </a:r>
            <a:r>
              <a:rPr kumimoji="0" lang="sv-SE" sz="700" b="0" i="0" u="none" strike="noStrike" kern="1200" cap="none" spc="0" normalizeH="0" baseline="0" noProof="0" dirty="0" err="1">
                <a:ln>
                  <a:noFill/>
                </a:ln>
                <a:solidFill>
                  <a:srgbClr val="FFFFFF"/>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3"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5205"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it-IT"/>
              <a:t>Fare clic per modificare lo stile del titolo dello schema</a:t>
            </a:r>
            <a:endParaRPr lang="sv-SE" dirty="0"/>
          </a:p>
        </p:txBody>
      </p:sp>
      <p:sp>
        <p:nvSpPr>
          <p:cNvPr id="15"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pic>
        <p:nvPicPr>
          <p:cNvPr id="10"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330" y="226116"/>
            <a:ext cx="960462" cy="1076212"/>
          </a:xfrm>
          <a:prstGeom prst="rect">
            <a:avLst/>
          </a:prstGeom>
        </p:spPr>
      </p:pic>
    </p:spTree>
    <p:extLst>
      <p:ext uri="{BB962C8B-B14F-4D97-AF65-F5344CB8AC3E}">
        <p14:creationId xmlns:p14="http://schemas.microsoft.com/office/powerpoint/2010/main" val="26466911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lvl1pPr>
              <a:defRPr sz="1800"/>
            </a:lvl1pPr>
            <a:lvl2pPr>
              <a:defRPr sz="1600"/>
            </a:lvl2pPr>
            <a:lvl3pPr>
              <a:defRPr sz="1400"/>
            </a:lvl3pPr>
            <a:lvl4pPr>
              <a:defRPr sz="1200"/>
            </a:lvl4pPr>
            <a:lvl5pPr>
              <a:defRPr sz="120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2026-03-26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600075" y="1095632"/>
            <a:ext cx="8830253" cy="568412"/>
          </a:xfrm>
        </p:spPr>
        <p:txBody>
          <a:bodyPr/>
          <a:lstStyle/>
          <a:p>
            <a:r>
              <a:rPr lang="it-IT"/>
              <a:t>Fare clic per modificare lo stile del titolo dello schema</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30252" cy="4530302"/>
          </a:xfrm>
        </p:spPr>
        <p:txBody>
          <a:bodyPr/>
          <a:lstStyle>
            <a:lvl1pPr>
              <a:defRPr sz="1800"/>
            </a:lvl1pPr>
            <a:lvl2pPr>
              <a:defRPr sz="1600"/>
            </a:lvl2pPr>
            <a:lvl3pPr>
              <a:defRPr sz="1400"/>
            </a:lvl3pPr>
            <a:lvl4pPr>
              <a:defRPr sz="1200"/>
            </a:lvl4pPr>
            <a:lvl5pPr>
              <a:defRPr sz="120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2026-03-26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600076" y="1095632"/>
            <a:ext cx="8922616" cy="568412"/>
          </a:xfrm>
        </p:spPr>
        <p:txBody>
          <a:bodyPr/>
          <a:lstStyle/>
          <a:p>
            <a:r>
              <a:rPr lang="it-IT"/>
              <a:t>Fare clic per modificare lo stile del titolo dello schema</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30252" cy="4530302"/>
          </a:xfrm>
        </p:spPr>
        <p:txBody>
          <a:bodyPr/>
          <a:lstStyle>
            <a:lvl1pPr>
              <a:defRPr sz="1800"/>
            </a:lvl1pPr>
            <a:lvl2pPr>
              <a:defRPr sz="1600"/>
            </a:lvl2pPr>
            <a:lvl3pPr>
              <a:defRPr sz="1400"/>
            </a:lvl3pPr>
            <a:lvl4pPr>
              <a:defRPr sz="1200"/>
            </a:lvl4pPr>
            <a:lvl5pPr>
              <a:defRPr sz="120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2026-03-26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600075" y="1095632"/>
            <a:ext cx="8821017" cy="568412"/>
          </a:xfrm>
        </p:spPr>
        <p:txBody>
          <a:bodyPr/>
          <a:lstStyle/>
          <a:p>
            <a:r>
              <a:rPr lang="it-IT"/>
              <a:t>Fare clic per modificare lo stile del titolo dello schema</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21016" cy="4530302"/>
          </a:xfrm>
        </p:spPr>
        <p:txBody>
          <a:bodyPr/>
          <a:lstStyle>
            <a:lvl1pPr>
              <a:defRPr sz="1800"/>
            </a:lvl1pPr>
            <a:lvl2pPr>
              <a:defRPr sz="1600"/>
            </a:lvl2pPr>
            <a:lvl3pPr>
              <a:defRPr sz="1400"/>
            </a:lvl3pPr>
            <a:lvl4pPr>
              <a:defRPr sz="1200"/>
            </a:lvl4pPr>
            <a:lvl5pPr>
              <a:defRPr sz="120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2026-03-26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600075" y="1095632"/>
            <a:ext cx="8848725" cy="568412"/>
          </a:xfrm>
        </p:spPr>
        <p:txBody>
          <a:bodyPr/>
          <a:lstStyle/>
          <a:p>
            <a:r>
              <a:rPr lang="it-IT"/>
              <a:t>Fare clic per modificare lo stile del titolo dello schema</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48725" cy="4530302"/>
          </a:xfrm>
        </p:spPr>
        <p:txBody>
          <a:bodyPr/>
          <a:lstStyle>
            <a:lvl1pPr>
              <a:defRPr sz="1800"/>
            </a:lvl1pPr>
            <a:lvl2pPr>
              <a:defRPr sz="1600"/>
            </a:lvl2pPr>
            <a:lvl3pPr>
              <a:defRPr sz="1400"/>
            </a:lvl3pPr>
            <a:lvl4pPr>
              <a:defRPr sz="1200"/>
            </a:lvl4pPr>
            <a:lvl5pPr>
              <a:defRPr sz="120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2026-03-26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it-IT"/>
              <a:t>Fare clic per modificare lo stile del titolo dello schema</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lvl1pPr>
              <a:defRPr sz="1800"/>
            </a:lvl1pPr>
            <a:lvl2pPr>
              <a:defRPr sz="1600"/>
            </a:lvl2pPr>
            <a:lvl3pPr>
              <a:defRPr sz="1400"/>
            </a:lvl3pPr>
            <a:lvl4pPr>
              <a:defRPr sz="1200"/>
            </a:lvl4pPr>
            <a:lvl5pPr>
              <a:defRPr sz="120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lvl1pPr>
              <a:defRPr sz="1800"/>
            </a:lvl1pPr>
            <a:lvl2pPr>
              <a:defRPr sz="1600"/>
            </a:lvl2pPr>
            <a:lvl3pPr>
              <a:defRPr sz="1400"/>
            </a:lvl3pPr>
            <a:lvl4pPr>
              <a:defRPr sz="1200"/>
            </a:lvl4pPr>
            <a:lvl5pPr>
              <a:defRPr sz="120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2026-03-26</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it-IT"/>
              <a:t>Fare clic per modificare lo stile del titolo dello schema</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2026-03-26</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lvl1pPr>
              <a:defRPr sz="1800"/>
            </a:lvl1pPr>
            <a:lvl2pPr>
              <a:defRPr sz="1600"/>
            </a:lvl2pPr>
            <a:lvl3pPr>
              <a:defRPr sz="1400"/>
            </a:lvl3pPr>
            <a:lvl4pPr>
              <a:defRPr sz="1200"/>
            </a:lvl4pPr>
            <a:lvl5pPr>
              <a:defRPr sz="120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2026-03-26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‹N›</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lvl1pPr>
              <a:defRPr sz="1800"/>
            </a:lvl1pPr>
            <a:lvl2pPr>
              <a:defRPr sz="1600"/>
            </a:lvl2pPr>
            <a:lvl3pPr>
              <a:defRPr sz="1400"/>
            </a:lvl3pPr>
            <a:lvl4pPr>
              <a:defRPr sz="1200"/>
            </a:lvl4pPr>
            <a:lvl5pPr>
              <a:defRPr sz="120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it-IT"/>
              <a:t>Fare clic per modificare gli stili del testo dello schema</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lvl1pPr>
              <a:defRPr sz="1800"/>
            </a:lvl1pPr>
            <a:lvl2pPr>
              <a:defRPr sz="1600"/>
            </a:lvl2pPr>
            <a:lvl3pPr>
              <a:defRPr sz="1400"/>
            </a:lvl3pPr>
            <a:lvl4pPr>
              <a:defRPr sz="1200"/>
            </a:lvl4pPr>
            <a:lvl5pPr>
              <a:defRPr sz="120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2026-03-26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‹N›</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it-IT"/>
              <a:t>Fare clic per modificare gli stili del testo dello schema</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2026-03-26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‹N›</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it-IT"/>
              <a:t>Fare clic per modificare gli stili del testo dello schema</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2026-03-26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‹N›</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it-IT"/>
              <a:t>Fare clic per modificare gli stili del testo dello schema</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2026-03-26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‹N›</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it-IT"/>
              <a:t>Fare clic per modificare gli stili del testo dello schema</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2026-03-26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‹N›</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it-IT"/>
              <a:t>Fare clic per modificare gli stili del testo dello schema</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2026-03-26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‹N›</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it-IT"/>
              <a:t>Fare clic per modificare gli stili del testo dello schema</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2026-03-26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‹N›</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it-IT"/>
              <a:t>Fare clic per modificare gli stili del testo dello schema</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2026-03-26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‹N›</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it-IT"/>
              <a:t>Fare clic per modificare lo stile del titolo dello schema</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2026-03-26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it-IT"/>
              <a:t>Fare clic per modificare lo stile del titolo dello schema</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2026-03-26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it-IT"/>
              <a:t>Fare clic per modificare lo stile del titolo dello schema</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2026-03-26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it-IT"/>
              <a:t>Fare clic per modificare lo stile del titolo dello schema</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2026-03-26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it-IT"/>
              <a:t>Fare clic per modificare lo stile del titolo dello schema</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2026-03-26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it-IT"/>
              <a:t>Fare clic per modificare lo stile del titolo dello schema</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2026-03-26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it-IT"/>
              <a:t>Fare clic per modificare lo stile del titolo dello schema</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2026-03-26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2026-03-26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‹N›</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2026-03-26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‹N›</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2026-03-26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‹N›</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2026-03-26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‹N›</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2026-03-26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‹N›</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2026-03-26</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it-IT"/>
              <a:t>Fare clic per modificare lo stile del titolo dello schema</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2026-03-26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it-IT"/>
              <a:t>Fare clic per modificare lo stile del titolo dello schema</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2026-03-26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‹N›</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2026-03-26</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‹N›</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2026-03-26</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‹N›</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2026-03-26</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‹N›</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2026-03-26</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‹N›</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a:t>
            </a:r>
            <a:r>
              <a:rPr lang="en-US" sz="1600" b="1" baseline="0" noProof="0" dirty="0">
                <a:solidFill>
                  <a:schemeClr val="tx2"/>
                </a:solidFill>
                <a:latin typeface="+mj-lt"/>
              </a:rPr>
              <a: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2026-03-26</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‹N›</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2026-03-26</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‹N›</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a:extLst>
              <a:ext uri="{96DAC541-7B7A-43D3-8B79-37D633B846F1}">
                <asvg:svgBlip xmlns:asvg="http://schemas.microsoft.com/office/drawing/2016/SVG/main" r:embed="rId50"/>
              </a:ext>
            </a:extLst>
          </a:blip>
          <a:stretch>
            <a:fillRect/>
          </a:stretch>
        </p:blipFill>
        <p:spPr>
          <a:xfrm>
            <a:off x="182680"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8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MarcoLaud/VP2024/tree/main/VP2025" TargetMode="External"/><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github.com/MarcoLaud/VP2024/tree/main/VP2025" TargetMode="Externa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32.png"/><Relationship Id="rId4" Type="http://schemas.openxmlformats.org/officeDocument/2006/relationships/hyperlink" Target="https://github.com/MarcoLaud/VP2024/tree/main/VP2025"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1.png"/><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2.xml"/><Relationship Id="rId6" Type="http://schemas.openxmlformats.org/officeDocument/2006/relationships/image" Target="../media/image54.png"/><Relationship Id="rId5" Type="http://schemas.openxmlformats.org/officeDocument/2006/relationships/image" Target="../media/image32.png"/><Relationship Id="rId4" Type="http://schemas.openxmlformats.org/officeDocument/2006/relationships/hyperlink" Target="https://github.com/MarcoLaud/VP2024/tree/main/VP2025"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2.xml"/><Relationship Id="rId4" Type="http://schemas.openxmlformats.org/officeDocument/2006/relationships/image" Target="../media/image59.png"/></Relationships>
</file>

<file path=ppt/slides/_rels/slide2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hyperlink" Target="mailto:laudato@kth.se" TargetMode="Externa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image" Target="../media/image67.png"/><Relationship Id="rId1" Type="http://schemas.openxmlformats.org/officeDocument/2006/relationships/slideLayout" Target="../slideLayouts/slideLayout12.xml"/><Relationship Id="rId4" Type="http://schemas.openxmlformats.org/officeDocument/2006/relationships/image" Target="../media/image69.gif"/></Relationships>
</file>

<file path=ppt/slides/_rels/slide30.xml.rels><?xml version="1.0" encoding="UTF-8" standalone="yes"?>
<Relationships xmlns="http://schemas.openxmlformats.org/package/2006/relationships"><Relationship Id="rId3" Type="http://schemas.openxmlformats.org/officeDocument/2006/relationships/hyperlink" Target="https://colab.research.google.com/" TargetMode="External"/><Relationship Id="rId2" Type="http://schemas.openxmlformats.org/officeDocument/2006/relationships/hyperlink" Target="https://www.spyder-ide.org/" TargetMode="External"/><Relationship Id="rId1" Type="http://schemas.openxmlformats.org/officeDocument/2006/relationships/slideLayout" Target="../slideLayouts/slideLayout12.xml"/><Relationship Id="rId5" Type="http://schemas.openxmlformats.org/officeDocument/2006/relationships/image" Target="../media/image71.png"/><Relationship Id="rId4"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sz="4400" dirty="0"/>
              <a:t>Introduction to Machine Learning and Optimization</a:t>
            </a:r>
          </a:p>
        </p:txBody>
      </p:sp>
      <p:sp>
        <p:nvSpPr>
          <p:cNvPr id="3" name="Subtitle 2"/>
          <p:cNvSpPr>
            <a:spLocks noGrp="1"/>
          </p:cNvSpPr>
          <p:nvPr>
            <p:ph type="subTitle" idx="1"/>
          </p:nvPr>
        </p:nvSpPr>
        <p:spPr/>
        <p:txBody>
          <a:bodyPr/>
          <a:lstStyle/>
          <a:p>
            <a:r>
              <a:rPr lang="en-GB" dirty="0"/>
              <a:t>Marco Laudato – KTH Department of Engineering Mechanics</a:t>
            </a:r>
          </a:p>
        </p:txBody>
      </p:sp>
      <p:sp>
        <p:nvSpPr>
          <p:cNvPr id="4" name="Subtitle 2">
            <a:extLst>
              <a:ext uri="{FF2B5EF4-FFF2-40B4-BE49-F238E27FC236}">
                <a16:creationId xmlns:a16="http://schemas.microsoft.com/office/drawing/2014/main" id="{AE33DC7C-B796-CE4A-0E81-E965E1CF7D4B}"/>
              </a:ext>
            </a:extLst>
          </p:cNvPr>
          <p:cNvSpPr txBox="1">
            <a:spLocks/>
          </p:cNvSpPr>
          <p:nvPr/>
        </p:nvSpPr>
        <p:spPr>
          <a:xfrm>
            <a:off x="2132013" y="5676623"/>
            <a:ext cx="7926387" cy="4619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Clr>
                <a:schemeClr val="accent1"/>
              </a:buClr>
              <a:buFont typeface="Arial" panose="020B0604020202020204" pitchFamily="34" charset="0"/>
              <a:buNone/>
              <a:defRPr sz="2000" kern="1200">
                <a:solidFill>
                  <a:schemeClr val="bg1"/>
                </a:solidFill>
                <a:latin typeface="+mn-lt"/>
                <a:ea typeface="+mn-ea"/>
                <a:cs typeface="+mn-cs"/>
              </a:defRPr>
            </a:lvl1pPr>
            <a:lvl2pPr marL="457200" indent="0" algn="ctr" defTabSz="914400" rtl="0" eaLnBrk="1" latinLnBrk="0" hangingPunct="1">
              <a:lnSpc>
                <a:spcPct val="90000"/>
              </a:lnSpc>
              <a:spcBef>
                <a:spcPts val="500"/>
              </a:spcBef>
              <a:buClr>
                <a:schemeClr val="accent1"/>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Clr>
                <a:schemeClr val="accent1"/>
              </a:buClr>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Clr>
                <a:schemeClr val="accent1"/>
              </a:buClr>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Clr>
                <a:schemeClr val="accent1"/>
              </a:buClr>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1400" dirty="0"/>
              <a:t>MOGE 2026, Napoli (IT), 26</a:t>
            </a:r>
            <a:r>
              <a:rPr lang="en-GB" sz="1400" baseline="30000" dirty="0"/>
              <a:t>th</a:t>
            </a:r>
            <a:r>
              <a:rPr lang="en-GB" sz="1400" dirty="0"/>
              <a:t> March 2026 </a:t>
            </a:r>
          </a:p>
        </p:txBody>
      </p:sp>
    </p:spTree>
    <p:extLst>
      <p:ext uri="{BB962C8B-B14F-4D97-AF65-F5344CB8AC3E}">
        <p14:creationId xmlns:p14="http://schemas.microsoft.com/office/powerpoint/2010/main" val="4081931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57712486-E8FF-F757-523E-5D5AC1ED28A3}"/>
              </a:ext>
            </a:extLst>
          </p:cNvPr>
          <p:cNvPicPr>
            <a:picLocks noChangeAspect="1"/>
          </p:cNvPicPr>
          <p:nvPr/>
        </p:nvPicPr>
        <p:blipFill>
          <a:blip r:embed="rId2"/>
          <a:srcRect/>
          <a:stretch/>
        </p:blipFill>
        <p:spPr>
          <a:xfrm>
            <a:off x="8414327" y="2488973"/>
            <a:ext cx="3557657" cy="3557657"/>
          </a:xfrm>
          <a:prstGeom prst="rect">
            <a:avLst/>
          </a:prstGeom>
        </p:spPr>
      </p:pic>
      <p:sp>
        <p:nvSpPr>
          <p:cNvPr id="4" name="Title 3"/>
          <p:cNvSpPr>
            <a:spLocks noGrp="1"/>
          </p:cNvSpPr>
          <p:nvPr>
            <p:ph type="title"/>
          </p:nvPr>
        </p:nvSpPr>
        <p:spPr/>
        <p:txBody>
          <a:bodyPr/>
          <a:lstStyle/>
          <a:p>
            <a:r>
              <a:rPr lang="en-GB" dirty="0"/>
              <a:t>Overview of the lectures</a:t>
            </a:r>
          </a:p>
        </p:txBody>
      </p:sp>
      <p:sp>
        <p:nvSpPr>
          <p:cNvPr id="5" name="Content Placeholder 4"/>
          <p:cNvSpPr>
            <a:spLocks noGrp="1"/>
          </p:cNvSpPr>
          <p:nvPr>
            <p:ph idx="1"/>
          </p:nvPr>
        </p:nvSpPr>
        <p:spPr/>
        <p:txBody>
          <a:bodyPr/>
          <a:lstStyle/>
          <a:p>
            <a:pPr marL="0" indent="0">
              <a:buNone/>
            </a:pPr>
            <a:r>
              <a:rPr lang="en-GB" dirty="0"/>
              <a:t>We will cover the following curriculum: </a:t>
            </a:r>
          </a:p>
          <a:p>
            <a:pPr marL="0" indent="0">
              <a:buNone/>
            </a:pPr>
            <a:r>
              <a:rPr lang="en-GB" dirty="0"/>
              <a:t>(</a:t>
            </a:r>
            <a:r>
              <a:rPr lang="en-GB" dirty="0" err="1"/>
              <a:t>Github</a:t>
            </a:r>
            <a:r>
              <a:rPr lang="en-GB" dirty="0"/>
              <a:t> repo: </a:t>
            </a:r>
            <a:r>
              <a:rPr lang="en-GB" dirty="0">
                <a:hlinkClick r:id="rId3"/>
              </a:rPr>
              <a:t>https://github.com/MarcoLaud/VP2024/tree/main/VP2025</a:t>
            </a:r>
            <a:r>
              <a:rPr lang="en-GB" dirty="0"/>
              <a:t>):</a:t>
            </a:r>
          </a:p>
          <a:p>
            <a:pPr marL="0" indent="0">
              <a:buNone/>
            </a:pPr>
            <a:endParaRPr lang="en-GB" dirty="0"/>
          </a:p>
          <a:p>
            <a:pPr>
              <a:buFont typeface="Wingdings" panose="05000000000000000000" pitchFamily="2" charset="2"/>
              <a:buChar char="Ø"/>
            </a:pPr>
            <a:r>
              <a:rPr lang="en-GB" b="1" dirty="0"/>
              <a:t>Introduction and motivation to scientific machine learning</a:t>
            </a:r>
          </a:p>
          <a:p>
            <a:pPr marL="800100" lvl="1" indent="-342900">
              <a:buFont typeface="+mj-lt"/>
              <a:buAutoNum type="arabicPeriod"/>
            </a:pPr>
            <a:r>
              <a:rPr lang="en-GB" dirty="0"/>
              <a:t>Neural Networks and architectures</a:t>
            </a:r>
          </a:p>
          <a:p>
            <a:pPr marL="800100" lvl="1" indent="-342900">
              <a:buFont typeface="+mj-lt"/>
              <a:buAutoNum type="arabicPeriod"/>
            </a:pPr>
            <a:r>
              <a:rPr lang="en-GB" dirty="0"/>
              <a:t>Regression problems</a:t>
            </a:r>
          </a:p>
          <a:p>
            <a:pPr marL="800100" lvl="1" indent="-342900">
              <a:buFont typeface="+mj-lt"/>
              <a:buAutoNum type="arabicPeriod"/>
            </a:pPr>
            <a:r>
              <a:rPr lang="en-GB" dirty="0"/>
              <a:t>Optimization</a:t>
            </a:r>
          </a:p>
          <a:p>
            <a:pPr>
              <a:buFont typeface="Wingdings" panose="05000000000000000000" pitchFamily="2" charset="2"/>
              <a:buChar char="Ø"/>
            </a:pPr>
            <a:endParaRPr lang="en-GB" dirty="0"/>
          </a:p>
          <a:p>
            <a:pPr marL="0" indent="0">
              <a:buNone/>
            </a:pPr>
            <a:r>
              <a:rPr lang="en-GB" b="1" dirty="0"/>
              <a:t>Learning goals</a:t>
            </a:r>
            <a:r>
              <a:rPr lang="en-GB" dirty="0"/>
              <a:t>:</a:t>
            </a:r>
          </a:p>
          <a:p>
            <a:pPr>
              <a:buFont typeface="Wingdings" panose="05000000000000000000" pitchFamily="2" charset="2"/>
              <a:buChar char="Ø"/>
            </a:pPr>
            <a:r>
              <a:rPr lang="en-GB" u="sng" dirty="0"/>
              <a:t>Understand</a:t>
            </a:r>
            <a:r>
              <a:rPr lang="en-GB" dirty="0"/>
              <a:t> basics of neural networks and their application</a:t>
            </a:r>
          </a:p>
          <a:p>
            <a:pPr>
              <a:buFont typeface="Wingdings" panose="05000000000000000000" pitchFamily="2" charset="2"/>
              <a:buChar char="Ø"/>
            </a:pPr>
            <a:r>
              <a:rPr lang="en-GB" u="sng" dirty="0"/>
              <a:t>Understand </a:t>
            </a:r>
            <a:r>
              <a:rPr lang="en-GB" dirty="0"/>
              <a:t>basics of optimization</a:t>
            </a:r>
          </a:p>
          <a:p>
            <a:pPr>
              <a:buFont typeface="Wingdings" panose="05000000000000000000" pitchFamily="2" charset="2"/>
              <a:buChar char="Ø"/>
            </a:pPr>
            <a:r>
              <a:rPr lang="en-GB" u="sng" dirty="0"/>
              <a:t>Train</a:t>
            </a:r>
            <a:r>
              <a:rPr lang="en-GB" dirty="0"/>
              <a:t> your first code-free neural network in Grasshopper</a:t>
            </a:r>
          </a:p>
          <a:p>
            <a:pPr>
              <a:buFont typeface="Wingdings" panose="05000000000000000000" pitchFamily="2" charset="2"/>
              <a:buChar char="Ø"/>
            </a:pPr>
            <a:endParaRPr lang="en-GB" dirty="0"/>
          </a:p>
        </p:txBody>
      </p:sp>
    </p:spTree>
    <p:extLst>
      <p:ext uri="{BB962C8B-B14F-4D97-AF65-F5344CB8AC3E}">
        <p14:creationId xmlns:p14="http://schemas.microsoft.com/office/powerpoint/2010/main" val="4213902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E340537-2E53-81B5-8860-CB5927334B13}"/>
              </a:ext>
            </a:extLst>
          </p:cNvPr>
          <p:cNvSpPr>
            <a:spLocks noGrp="1"/>
          </p:cNvSpPr>
          <p:nvPr>
            <p:ph type="title"/>
          </p:nvPr>
        </p:nvSpPr>
        <p:spPr/>
        <p:txBody>
          <a:bodyPr/>
          <a:lstStyle/>
          <a:p>
            <a:r>
              <a:rPr lang="en-GB" dirty="0"/>
              <a:t>What is Machine Learning?</a:t>
            </a:r>
            <a:br>
              <a:rPr lang="en-GB" dirty="0"/>
            </a:br>
            <a:endParaRPr lang="en-GB" dirty="0"/>
          </a:p>
        </p:txBody>
      </p:sp>
      <p:sp>
        <p:nvSpPr>
          <p:cNvPr id="3" name="Segnaposto contenuto 2">
            <a:extLst>
              <a:ext uri="{FF2B5EF4-FFF2-40B4-BE49-F238E27FC236}">
                <a16:creationId xmlns:a16="http://schemas.microsoft.com/office/drawing/2014/main" id="{A57B96C6-1594-A8E9-BCB0-BD14926FA5CE}"/>
              </a:ext>
            </a:extLst>
          </p:cNvPr>
          <p:cNvSpPr>
            <a:spLocks noGrp="1"/>
          </p:cNvSpPr>
          <p:nvPr>
            <p:ph idx="1"/>
          </p:nvPr>
        </p:nvSpPr>
        <p:spPr/>
        <p:txBody>
          <a:bodyPr/>
          <a:lstStyle/>
          <a:p>
            <a:pPr>
              <a:buFont typeface="Wingdings" panose="05000000000000000000" pitchFamily="2" charset="2"/>
              <a:buChar char="Ø"/>
            </a:pPr>
            <a:r>
              <a:rPr lang="en-GB" dirty="0"/>
              <a:t>Machine Learning concerns training computers to learn from data and make predictions.</a:t>
            </a:r>
          </a:p>
          <a:p>
            <a:pPr>
              <a:buFont typeface="Wingdings" panose="05000000000000000000" pitchFamily="2" charset="2"/>
              <a:buChar char="Ø"/>
            </a:pPr>
            <a:r>
              <a:rPr lang="en-GB" dirty="0"/>
              <a:t>The term was coined in </a:t>
            </a:r>
            <a:r>
              <a:rPr lang="en-GB" b="1" dirty="0"/>
              <a:t>1959</a:t>
            </a:r>
            <a:r>
              <a:rPr lang="en-GB" dirty="0"/>
              <a:t> (!) by Arthur Samuel (IBM).</a:t>
            </a:r>
          </a:p>
          <a:p>
            <a:pPr>
              <a:buFont typeface="Wingdings" panose="05000000000000000000" pitchFamily="2" charset="2"/>
              <a:buChar char="Ø"/>
            </a:pPr>
            <a:r>
              <a:rPr lang="en-GB" dirty="0"/>
              <a:t>Applications: healthcare (e.g., diagnosis), finance (e.g., algorithmic trading), transportation (e.g., autonomous vehicles), daily life (e.g., LLMs).</a:t>
            </a:r>
          </a:p>
          <a:p>
            <a:pPr>
              <a:buFont typeface="Wingdings" panose="05000000000000000000" pitchFamily="2" charset="2"/>
              <a:buChar char="Ø"/>
            </a:pPr>
            <a:endParaRPr lang="en-GB" dirty="0"/>
          </a:p>
          <a:p>
            <a:pPr>
              <a:buFont typeface="Wingdings" panose="05000000000000000000" pitchFamily="2" charset="2"/>
              <a:buChar char="Ø"/>
            </a:pPr>
            <a:endParaRPr lang="en-GB" dirty="0"/>
          </a:p>
        </p:txBody>
      </p:sp>
      <p:pic>
        <p:nvPicPr>
          <p:cNvPr id="6" name="Immagine 5">
            <a:extLst>
              <a:ext uri="{FF2B5EF4-FFF2-40B4-BE49-F238E27FC236}">
                <a16:creationId xmlns:a16="http://schemas.microsoft.com/office/drawing/2014/main" id="{9B4F315C-F4E1-2272-0CCB-2372CC4B3C3E}"/>
              </a:ext>
            </a:extLst>
          </p:cNvPr>
          <p:cNvPicPr>
            <a:picLocks noChangeAspect="1"/>
          </p:cNvPicPr>
          <p:nvPr/>
        </p:nvPicPr>
        <p:blipFill>
          <a:blip r:embed="rId2"/>
          <a:stretch>
            <a:fillRect/>
          </a:stretch>
        </p:blipFill>
        <p:spPr>
          <a:xfrm>
            <a:off x="1159098" y="3615444"/>
            <a:ext cx="5021083" cy="2315277"/>
          </a:xfrm>
          <a:prstGeom prst="rect">
            <a:avLst/>
          </a:prstGeom>
        </p:spPr>
      </p:pic>
      <p:pic>
        <p:nvPicPr>
          <p:cNvPr id="1030" name="Picture 6" descr="undefined">
            <a:extLst>
              <a:ext uri="{FF2B5EF4-FFF2-40B4-BE49-F238E27FC236}">
                <a16:creationId xmlns:a16="http://schemas.microsoft.com/office/drawing/2014/main" id="{DE81D59C-2EE9-BDA8-61C5-E322B3B49B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4152" y="3429000"/>
            <a:ext cx="2582214" cy="2582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922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4D6395-CEC3-D9E6-D90E-2B39EAF67980}"/>
              </a:ext>
            </a:extLst>
          </p:cNvPr>
          <p:cNvSpPr>
            <a:spLocks noGrp="1"/>
          </p:cNvSpPr>
          <p:nvPr>
            <p:ph type="title"/>
          </p:nvPr>
        </p:nvSpPr>
        <p:spPr>
          <a:xfrm>
            <a:off x="600868" y="2203215"/>
            <a:ext cx="10990263" cy="568412"/>
          </a:xfrm>
        </p:spPr>
        <p:txBody>
          <a:bodyPr/>
          <a:lstStyle/>
          <a:p>
            <a:pPr algn="ctr"/>
            <a:r>
              <a:rPr lang="en-GB" dirty="0"/>
              <a:t>MODULE 1</a:t>
            </a:r>
            <a:br>
              <a:rPr lang="en-GB" dirty="0"/>
            </a:br>
            <a:br>
              <a:rPr lang="en-GB" dirty="0"/>
            </a:br>
            <a:r>
              <a:rPr lang="en-GB" dirty="0"/>
              <a:t>INTRODUCTION TO NEURAL NETWORKS</a:t>
            </a:r>
          </a:p>
        </p:txBody>
      </p:sp>
    </p:spTree>
    <p:extLst>
      <p:ext uri="{BB962C8B-B14F-4D97-AF65-F5344CB8AC3E}">
        <p14:creationId xmlns:p14="http://schemas.microsoft.com/office/powerpoint/2010/main" val="800754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603087-ADC0-7719-DE5C-21C741482561}"/>
              </a:ext>
            </a:extLst>
          </p:cNvPr>
          <p:cNvSpPr>
            <a:spLocks noGrp="1"/>
          </p:cNvSpPr>
          <p:nvPr>
            <p:ph type="title"/>
          </p:nvPr>
        </p:nvSpPr>
        <p:spPr/>
        <p:txBody>
          <a:bodyPr/>
          <a:lstStyle/>
          <a:p>
            <a:r>
              <a:rPr lang="en-GB" dirty="0"/>
              <a:t>Neural Networks - Neurons</a:t>
            </a:r>
          </a:p>
        </p:txBody>
      </p:sp>
      <p:sp>
        <p:nvSpPr>
          <p:cNvPr id="3" name="Segnaposto contenuto 2">
            <a:extLst>
              <a:ext uri="{FF2B5EF4-FFF2-40B4-BE49-F238E27FC236}">
                <a16:creationId xmlns:a16="http://schemas.microsoft.com/office/drawing/2014/main" id="{725E7A34-CC56-DCF2-3C91-9A244CD8896E}"/>
              </a:ext>
            </a:extLst>
          </p:cNvPr>
          <p:cNvSpPr>
            <a:spLocks noGrp="1"/>
          </p:cNvSpPr>
          <p:nvPr>
            <p:ph idx="1"/>
          </p:nvPr>
        </p:nvSpPr>
        <p:spPr>
          <a:xfrm>
            <a:off x="600075" y="1795850"/>
            <a:ext cx="6275111" cy="4530302"/>
          </a:xfrm>
        </p:spPr>
        <p:txBody>
          <a:bodyPr/>
          <a:lstStyle/>
          <a:p>
            <a:pPr>
              <a:buFont typeface="Wingdings" panose="05000000000000000000" pitchFamily="2" charset="2"/>
              <a:buChar char="Ø"/>
            </a:pPr>
            <a:r>
              <a:rPr lang="en-GB" b="1" dirty="0"/>
              <a:t>Neural networks </a:t>
            </a:r>
            <a:r>
              <a:rPr lang="en-GB" dirty="0"/>
              <a:t>(NNs) are computational models inspired by the human brain's network of neurons.</a:t>
            </a:r>
          </a:p>
          <a:p>
            <a:pPr>
              <a:buFont typeface="Wingdings" panose="05000000000000000000" pitchFamily="2" charset="2"/>
              <a:buChar char="Ø"/>
            </a:pPr>
            <a:endParaRPr lang="en-GB" dirty="0"/>
          </a:p>
          <a:p>
            <a:pPr>
              <a:buFont typeface="Wingdings" panose="05000000000000000000" pitchFamily="2" charset="2"/>
              <a:buChar char="Ø"/>
            </a:pPr>
            <a:r>
              <a:rPr lang="en-GB" b="1" dirty="0"/>
              <a:t>Neurons</a:t>
            </a:r>
            <a:r>
              <a:rPr lang="en-GB" dirty="0"/>
              <a:t> are the fundamental units of neural networks that process data.</a:t>
            </a:r>
          </a:p>
          <a:p>
            <a:pPr>
              <a:buFont typeface="Wingdings" panose="05000000000000000000" pitchFamily="2" charset="2"/>
              <a:buChar char="Ø"/>
            </a:pPr>
            <a:endParaRPr lang="en-GB" dirty="0"/>
          </a:p>
          <a:p>
            <a:pPr>
              <a:buFont typeface="Wingdings" panose="05000000000000000000" pitchFamily="2" charset="2"/>
              <a:buChar char="Ø"/>
            </a:pPr>
            <a:r>
              <a:rPr lang="en-GB" b="1" dirty="0"/>
              <a:t>Weights</a:t>
            </a:r>
            <a:r>
              <a:rPr lang="en-GB" dirty="0"/>
              <a:t> determine the strength of the connection between neurons. They are adjusted during the </a:t>
            </a:r>
            <a:r>
              <a:rPr lang="en-GB" u="sng" dirty="0"/>
              <a:t>training</a:t>
            </a:r>
            <a:r>
              <a:rPr lang="en-GB" dirty="0"/>
              <a:t>.</a:t>
            </a:r>
          </a:p>
          <a:p>
            <a:pPr>
              <a:buFont typeface="Wingdings" panose="05000000000000000000" pitchFamily="2" charset="2"/>
              <a:buChar char="Ø"/>
            </a:pPr>
            <a:endParaRPr lang="en-GB" dirty="0"/>
          </a:p>
          <a:p>
            <a:pPr>
              <a:buFont typeface="Wingdings" panose="05000000000000000000" pitchFamily="2" charset="2"/>
              <a:buChar char="Ø"/>
            </a:pPr>
            <a:r>
              <a:rPr lang="en-GB" b="1" dirty="0"/>
              <a:t>Activation functions </a:t>
            </a:r>
            <a:r>
              <a:rPr lang="en-GB" dirty="0"/>
              <a:t>introduce non-linearity in the model.</a:t>
            </a:r>
          </a:p>
          <a:p>
            <a:pPr>
              <a:buFont typeface="Wingdings" panose="05000000000000000000" pitchFamily="2" charset="2"/>
              <a:buChar char="Ø"/>
            </a:pPr>
            <a:endParaRPr lang="en-GB" u="sng" dirty="0"/>
          </a:p>
          <a:p>
            <a:pPr marL="0" indent="0">
              <a:buNone/>
            </a:pPr>
            <a:r>
              <a:rPr lang="en-GB" u="sng" dirty="0">
                <a:hlinkClick r:id="rId2"/>
              </a:rPr>
              <a:t>Tutorial 1</a:t>
            </a:r>
            <a:endParaRPr lang="en-GB" u="sng" dirty="0"/>
          </a:p>
        </p:txBody>
      </p:sp>
      <p:pic>
        <p:nvPicPr>
          <p:cNvPr id="1026" name="Picture 2">
            <a:extLst>
              <a:ext uri="{FF2B5EF4-FFF2-40B4-BE49-F238E27FC236}">
                <a16:creationId xmlns:a16="http://schemas.microsoft.com/office/drawing/2014/main" id="{339D7B41-B872-CFCD-D67B-C8DBA822AC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2400" y="853751"/>
            <a:ext cx="4824343" cy="5002679"/>
          </a:xfrm>
          <a:prstGeom prst="rect">
            <a:avLst/>
          </a:prstGeom>
          <a:noFill/>
          <a:extLst>
            <a:ext uri="{909E8E84-426E-40DD-AFC4-6F175D3DCCD1}">
              <a14:hiddenFill xmlns:a14="http://schemas.microsoft.com/office/drawing/2010/main">
                <a:solidFill>
                  <a:srgbClr val="FFFFFF"/>
                </a:solidFill>
              </a14:hiddenFill>
            </a:ext>
          </a:extLst>
        </p:spPr>
      </p:pic>
      <p:pic>
        <p:nvPicPr>
          <p:cNvPr id="4" name="Immagine 3">
            <a:extLst>
              <a:ext uri="{FF2B5EF4-FFF2-40B4-BE49-F238E27FC236}">
                <a16:creationId xmlns:a16="http://schemas.microsoft.com/office/drawing/2014/main" id="{E2B38C0A-450A-6929-0666-604AEA2D1633}"/>
              </a:ext>
            </a:extLst>
          </p:cNvPr>
          <p:cNvPicPr>
            <a:picLocks noChangeAspect="1"/>
          </p:cNvPicPr>
          <p:nvPr/>
        </p:nvPicPr>
        <p:blipFill>
          <a:blip r:embed="rId4"/>
          <a:srcRect/>
          <a:stretch/>
        </p:blipFill>
        <p:spPr>
          <a:xfrm>
            <a:off x="1707237" y="5320145"/>
            <a:ext cx="1308349" cy="1308349"/>
          </a:xfrm>
          <a:prstGeom prst="rect">
            <a:avLst/>
          </a:prstGeom>
        </p:spPr>
      </p:pic>
    </p:spTree>
    <p:extLst>
      <p:ext uri="{BB962C8B-B14F-4D97-AF65-F5344CB8AC3E}">
        <p14:creationId xmlns:p14="http://schemas.microsoft.com/office/powerpoint/2010/main" val="3002963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697D061-9137-E736-096F-3B942225BEEE}"/>
              </a:ext>
            </a:extLst>
          </p:cNvPr>
          <p:cNvSpPr>
            <a:spLocks noGrp="1"/>
          </p:cNvSpPr>
          <p:nvPr>
            <p:ph type="title"/>
          </p:nvPr>
        </p:nvSpPr>
        <p:spPr/>
        <p:txBody>
          <a:bodyPr/>
          <a:lstStyle/>
          <a:p>
            <a:r>
              <a:rPr lang="en-GB" dirty="0"/>
              <a:t>Fully connected neural network</a:t>
            </a:r>
          </a:p>
        </p:txBody>
      </p:sp>
      <p:sp>
        <p:nvSpPr>
          <p:cNvPr id="3" name="Segnaposto contenuto 2">
            <a:extLst>
              <a:ext uri="{FF2B5EF4-FFF2-40B4-BE49-F238E27FC236}">
                <a16:creationId xmlns:a16="http://schemas.microsoft.com/office/drawing/2014/main" id="{9C5F0542-80B5-99CD-6B34-F13733E263B1}"/>
              </a:ext>
            </a:extLst>
          </p:cNvPr>
          <p:cNvSpPr>
            <a:spLocks noGrp="1"/>
          </p:cNvSpPr>
          <p:nvPr>
            <p:ph idx="1"/>
          </p:nvPr>
        </p:nvSpPr>
        <p:spPr/>
        <p:txBody>
          <a:bodyPr/>
          <a:lstStyle/>
          <a:p>
            <a:pPr>
              <a:buFont typeface="Wingdings" panose="05000000000000000000" pitchFamily="2" charset="2"/>
              <a:buChar char="Ø"/>
            </a:pPr>
            <a:r>
              <a:rPr lang="en-GB" dirty="0"/>
              <a:t>Neural networks are composed of several </a:t>
            </a:r>
            <a:r>
              <a:rPr lang="en-GB" b="1" dirty="0"/>
              <a:t>layers</a:t>
            </a:r>
            <a:r>
              <a:rPr lang="en-GB" dirty="0"/>
              <a:t> of neurons.</a:t>
            </a:r>
          </a:p>
          <a:p>
            <a:pPr>
              <a:buFont typeface="Wingdings" panose="05000000000000000000" pitchFamily="2" charset="2"/>
              <a:buChar char="Ø"/>
            </a:pPr>
            <a:r>
              <a:rPr lang="en-GB" dirty="0"/>
              <a:t>Neural networks take an </a:t>
            </a:r>
            <a:r>
              <a:rPr lang="en-GB" b="1" dirty="0"/>
              <a:t>input</a:t>
            </a:r>
            <a:r>
              <a:rPr lang="en-GB" dirty="0"/>
              <a:t> and yield and </a:t>
            </a:r>
            <a:r>
              <a:rPr lang="en-GB" b="1" dirty="0"/>
              <a:t>output </a:t>
            </a:r>
            <a:r>
              <a:rPr lang="en-GB" b="1" dirty="0">
                <a:sym typeface="Wingdings" panose="05000000000000000000" pitchFamily="2" charset="2"/>
              </a:rPr>
              <a:t> </a:t>
            </a:r>
            <a:r>
              <a:rPr lang="en-GB" dirty="0">
                <a:sym typeface="Wingdings" panose="05000000000000000000" pitchFamily="2" charset="2"/>
              </a:rPr>
              <a:t>they approximate </a:t>
            </a:r>
            <a:r>
              <a:rPr lang="en-GB" b="1" dirty="0">
                <a:sym typeface="Wingdings" panose="05000000000000000000" pitchFamily="2" charset="2"/>
              </a:rPr>
              <a:t>functions!</a:t>
            </a:r>
          </a:p>
          <a:p>
            <a:pPr>
              <a:buFont typeface="Wingdings" panose="05000000000000000000" pitchFamily="2" charset="2"/>
              <a:buChar char="Ø"/>
            </a:pPr>
            <a:endParaRPr lang="en-GB" b="1" dirty="0">
              <a:sym typeface="Wingdings" panose="05000000000000000000" pitchFamily="2" charset="2"/>
            </a:endParaRPr>
          </a:p>
          <a:p>
            <a:pPr>
              <a:buFont typeface="Wingdings" panose="05000000000000000000" pitchFamily="2" charset="2"/>
              <a:buChar char="Ø"/>
            </a:pPr>
            <a:endParaRPr lang="en-GB" b="1" dirty="0">
              <a:sym typeface="Wingdings" panose="05000000000000000000" pitchFamily="2" charset="2"/>
            </a:endParaRPr>
          </a:p>
          <a:p>
            <a:pPr>
              <a:buFont typeface="Wingdings" panose="05000000000000000000" pitchFamily="2" charset="2"/>
              <a:buChar char="Ø"/>
            </a:pPr>
            <a:endParaRPr lang="en-GB" b="1" dirty="0">
              <a:sym typeface="Wingdings" panose="05000000000000000000" pitchFamily="2" charset="2"/>
            </a:endParaRPr>
          </a:p>
          <a:p>
            <a:pPr>
              <a:buFont typeface="Wingdings" panose="05000000000000000000" pitchFamily="2" charset="2"/>
              <a:buChar char="Ø"/>
            </a:pPr>
            <a:endParaRPr lang="en-GB" b="1" dirty="0">
              <a:sym typeface="Wingdings" panose="05000000000000000000" pitchFamily="2" charset="2"/>
            </a:endParaRPr>
          </a:p>
          <a:p>
            <a:pPr>
              <a:buFont typeface="Wingdings" panose="05000000000000000000" pitchFamily="2" charset="2"/>
              <a:buChar char="Ø"/>
            </a:pPr>
            <a:endParaRPr lang="en-GB" b="1" dirty="0">
              <a:sym typeface="Wingdings" panose="05000000000000000000" pitchFamily="2" charset="2"/>
            </a:endParaRPr>
          </a:p>
          <a:p>
            <a:pPr>
              <a:buFont typeface="Wingdings" panose="05000000000000000000" pitchFamily="2" charset="2"/>
              <a:buChar char="Ø"/>
            </a:pPr>
            <a:endParaRPr lang="en-GB" b="1" dirty="0">
              <a:sym typeface="Wingdings" panose="05000000000000000000" pitchFamily="2" charset="2"/>
            </a:endParaRPr>
          </a:p>
          <a:p>
            <a:pPr>
              <a:buFont typeface="Wingdings" panose="05000000000000000000" pitchFamily="2" charset="2"/>
              <a:buChar char="Ø"/>
            </a:pPr>
            <a:endParaRPr lang="en-GB" b="1" dirty="0">
              <a:sym typeface="Wingdings" panose="05000000000000000000" pitchFamily="2" charset="2"/>
            </a:endParaRPr>
          </a:p>
          <a:p>
            <a:pPr>
              <a:buFont typeface="Wingdings" panose="05000000000000000000" pitchFamily="2" charset="2"/>
              <a:buChar char="Ø"/>
            </a:pPr>
            <a:endParaRPr lang="en-GB" b="1" dirty="0">
              <a:sym typeface="Wingdings" panose="05000000000000000000" pitchFamily="2" charset="2"/>
            </a:endParaRPr>
          </a:p>
          <a:p>
            <a:pPr>
              <a:buFont typeface="Wingdings" panose="05000000000000000000" pitchFamily="2" charset="2"/>
              <a:buChar char="Ø"/>
            </a:pPr>
            <a:endParaRPr lang="en-GB" b="1" dirty="0">
              <a:sym typeface="Wingdings" panose="05000000000000000000" pitchFamily="2" charset="2"/>
            </a:endParaRPr>
          </a:p>
          <a:p>
            <a:pPr>
              <a:buFont typeface="Wingdings" panose="05000000000000000000" pitchFamily="2" charset="2"/>
              <a:buChar char="Ø"/>
            </a:pPr>
            <a:r>
              <a:rPr lang="en-GB" b="1" dirty="0">
                <a:sym typeface="Wingdings" panose="05000000000000000000" pitchFamily="2" charset="2"/>
              </a:rPr>
              <a:t>PROBLEM: </a:t>
            </a:r>
            <a:r>
              <a:rPr lang="en-GB" dirty="0">
                <a:sym typeface="Wingdings" panose="05000000000000000000" pitchFamily="2" charset="2"/>
              </a:rPr>
              <a:t>how do I find the optimal weights for so many neurons?</a:t>
            </a:r>
            <a:endParaRPr lang="en-GB" b="1" dirty="0"/>
          </a:p>
        </p:txBody>
      </p:sp>
      <p:pic>
        <p:nvPicPr>
          <p:cNvPr id="6" name="Picture 4">
            <a:extLst>
              <a:ext uri="{FF2B5EF4-FFF2-40B4-BE49-F238E27FC236}">
                <a16:creationId xmlns:a16="http://schemas.microsoft.com/office/drawing/2014/main" id="{D06C95EF-3136-56B3-C0A5-506306BC424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2130" b="2356"/>
          <a:stretch/>
        </p:blipFill>
        <p:spPr bwMode="auto">
          <a:xfrm>
            <a:off x="1597603" y="2877034"/>
            <a:ext cx="8432515" cy="2728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8028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7756C53-DC26-7B29-5198-57B45717762C}"/>
              </a:ext>
            </a:extLst>
          </p:cNvPr>
          <p:cNvSpPr>
            <a:spLocks noGrp="1"/>
          </p:cNvSpPr>
          <p:nvPr>
            <p:ph type="title"/>
          </p:nvPr>
        </p:nvSpPr>
        <p:spPr/>
        <p:txBody>
          <a:bodyPr/>
          <a:lstStyle/>
          <a:p>
            <a:r>
              <a:rPr lang="en-GB" dirty="0"/>
              <a:t>Gradient descent</a:t>
            </a:r>
          </a:p>
        </p:txBody>
      </p:sp>
      <p:sp>
        <p:nvSpPr>
          <p:cNvPr id="3" name="Segnaposto contenuto 2">
            <a:extLst>
              <a:ext uri="{FF2B5EF4-FFF2-40B4-BE49-F238E27FC236}">
                <a16:creationId xmlns:a16="http://schemas.microsoft.com/office/drawing/2014/main" id="{4C9D7060-DBDF-CC1A-F049-5A0FAE17DE23}"/>
              </a:ext>
            </a:extLst>
          </p:cNvPr>
          <p:cNvSpPr>
            <a:spLocks noGrp="1"/>
          </p:cNvSpPr>
          <p:nvPr>
            <p:ph idx="1"/>
          </p:nvPr>
        </p:nvSpPr>
        <p:spPr>
          <a:xfrm>
            <a:off x="600075" y="1795850"/>
            <a:ext cx="11672639" cy="6438518"/>
          </a:xfrm>
        </p:spPr>
        <p:txBody>
          <a:bodyPr/>
          <a:lstStyle/>
          <a:p>
            <a:pPr>
              <a:buFont typeface="Wingdings" panose="05000000000000000000" pitchFamily="2" charset="2"/>
              <a:buChar char="Ø"/>
            </a:pPr>
            <a:r>
              <a:rPr lang="en-GB" dirty="0"/>
              <a:t>Finding the </a:t>
            </a:r>
            <a:r>
              <a:rPr lang="en-GB" b="1" dirty="0"/>
              <a:t>optimal</a:t>
            </a:r>
            <a:r>
              <a:rPr lang="en-GB" dirty="0"/>
              <a:t> weights is an </a:t>
            </a:r>
            <a:r>
              <a:rPr lang="en-GB" b="1" dirty="0"/>
              <a:t>optimization</a:t>
            </a:r>
            <a:r>
              <a:rPr lang="en-GB" dirty="0"/>
              <a:t> problem!</a:t>
            </a:r>
          </a:p>
          <a:p>
            <a:pPr>
              <a:buFont typeface="Wingdings" panose="05000000000000000000" pitchFamily="2" charset="2"/>
              <a:buChar char="Ø"/>
            </a:pPr>
            <a:r>
              <a:rPr lang="en-GB" dirty="0"/>
              <a:t>We must define a </a:t>
            </a:r>
            <a:r>
              <a:rPr lang="en-GB" b="1" dirty="0"/>
              <a:t>cost function</a:t>
            </a:r>
            <a:r>
              <a:rPr lang="en-GB" dirty="0"/>
              <a:t>.</a:t>
            </a:r>
            <a:endParaRPr lang="en-GB" b="1" dirty="0"/>
          </a:p>
          <a:p>
            <a:pPr>
              <a:buFont typeface="Wingdings" panose="05000000000000000000" pitchFamily="2" charset="2"/>
              <a:buChar char="Ø"/>
            </a:pPr>
            <a:endParaRPr lang="en-GB" dirty="0"/>
          </a:p>
        </p:txBody>
      </p:sp>
      <p:pic>
        <p:nvPicPr>
          <p:cNvPr id="1026" name="Picture 2">
            <a:extLst>
              <a:ext uri="{FF2B5EF4-FFF2-40B4-BE49-F238E27FC236}">
                <a16:creationId xmlns:a16="http://schemas.microsoft.com/office/drawing/2014/main" id="{4F43A285-CD1F-7118-C2F8-9A8E058D33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029" y="2783465"/>
            <a:ext cx="7052798" cy="33842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Gradient Ascent">
            <a:extLst>
              <a:ext uri="{FF2B5EF4-FFF2-40B4-BE49-F238E27FC236}">
                <a16:creationId xmlns:a16="http://schemas.microsoft.com/office/drawing/2014/main" id="{CD5DB97B-7809-4C11-9D6E-21EE90FDC8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3117" y="3597702"/>
            <a:ext cx="4567199" cy="2834813"/>
          </a:xfrm>
          <a:prstGeom prst="rect">
            <a:avLst/>
          </a:prstGeom>
          <a:noFill/>
          <a:ln w="19050">
            <a:solidFill>
              <a:schemeClr val="accent1"/>
            </a:solidFill>
          </a:ln>
          <a:extLst>
            <a:ext uri="{909E8E84-426E-40DD-AFC4-6F175D3DCCD1}">
              <a14:hiddenFill xmlns:a14="http://schemas.microsoft.com/office/drawing/2010/main">
                <a:solidFill>
                  <a:srgbClr val="FFFFFF"/>
                </a:solidFill>
              </a14:hiddenFill>
            </a:ext>
          </a:extLst>
        </p:spPr>
      </p:pic>
      <p:sp>
        <p:nvSpPr>
          <p:cNvPr id="5" name="Segnaposto contenuto 2">
            <a:extLst>
              <a:ext uri="{FF2B5EF4-FFF2-40B4-BE49-F238E27FC236}">
                <a16:creationId xmlns:a16="http://schemas.microsoft.com/office/drawing/2014/main" id="{C6277CE6-6DB6-BE7B-1EF8-E5D9CA258074}"/>
              </a:ext>
            </a:extLst>
          </p:cNvPr>
          <p:cNvSpPr txBox="1">
            <a:spLocks/>
          </p:cNvSpPr>
          <p:nvPr/>
        </p:nvSpPr>
        <p:spPr>
          <a:xfrm>
            <a:off x="7436796" y="4940249"/>
            <a:ext cx="2340064" cy="355237"/>
          </a:xfrm>
          <a:prstGeom prst="rect">
            <a:avLst/>
          </a:prstGeom>
          <a:ln w="19050">
            <a:solidFill>
              <a:schemeClr val="accent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dirty="0"/>
              <a:t>Optimal weights</a:t>
            </a:r>
          </a:p>
        </p:txBody>
      </p:sp>
      <p:sp>
        <p:nvSpPr>
          <p:cNvPr id="6" name="Freccia in giù 5">
            <a:extLst>
              <a:ext uri="{FF2B5EF4-FFF2-40B4-BE49-F238E27FC236}">
                <a16:creationId xmlns:a16="http://schemas.microsoft.com/office/drawing/2014/main" id="{9D2FA37D-6F95-4D1C-3265-D7A7882264DD}"/>
              </a:ext>
            </a:extLst>
          </p:cNvPr>
          <p:cNvSpPr/>
          <p:nvPr/>
        </p:nvSpPr>
        <p:spPr>
          <a:xfrm rot="16200000">
            <a:off x="6406051" y="4693198"/>
            <a:ext cx="385010" cy="879113"/>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CasellaDiTesto 7">
            <a:extLst>
              <a:ext uri="{FF2B5EF4-FFF2-40B4-BE49-F238E27FC236}">
                <a16:creationId xmlns:a16="http://schemas.microsoft.com/office/drawing/2014/main" id="{097850CA-AFEC-02A7-B5EE-ABFB84A154E4}"/>
              </a:ext>
            </a:extLst>
          </p:cNvPr>
          <p:cNvSpPr txBox="1"/>
          <p:nvPr/>
        </p:nvSpPr>
        <p:spPr>
          <a:xfrm>
            <a:off x="9011397" y="5975988"/>
            <a:ext cx="1164146" cy="369332"/>
          </a:xfrm>
          <a:prstGeom prst="rect">
            <a:avLst/>
          </a:prstGeom>
          <a:noFill/>
        </p:spPr>
        <p:txBody>
          <a:bodyPr wrap="square">
            <a:spAutoFit/>
          </a:bodyPr>
          <a:lstStyle/>
          <a:p>
            <a:pPr marL="0" indent="0">
              <a:buNone/>
            </a:pPr>
            <a:r>
              <a:rPr lang="en-GB" u="sng" dirty="0">
                <a:hlinkClick r:id="rId4"/>
              </a:rPr>
              <a:t>Tutorial 1</a:t>
            </a:r>
            <a:endParaRPr lang="en-GB" u="sng" dirty="0"/>
          </a:p>
        </p:txBody>
      </p:sp>
      <p:pic>
        <p:nvPicPr>
          <p:cNvPr id="9" name="Immagine 8">
            <a:extLst>
              <a:ext uri="{FF2B5EF4-FFF2-40B4-BE49-F238E27FC236}">
                <a16:creationId xmlns:a16="http://schemas.microsoft.com/office/drawing/2014/main" id="{54674C25-7E7B-A87C-51CB-F363BFF4A42A}"/>
              </a:ext>
            </a:extLst>
          </p:cNvPr>
          <p:cNvPicPr>
            <a:picLocks noChangeAspect="1"/>
          </p:cNvPicPr>
          <p:nvPr/>
        </p:nvPicPr>
        <p:blipFill>
          <a:blip r:embed="rId5"/>
          <a:srcRect/>
          <a:stretch/>
        </p:blipFill>
        <p:spPr>
          <a:xfrm>
            <a:off x="10175543" y="5200073"/>
            <a:ext cx="1308349" cy="1308349"/>
          </a:xfrm>
          <a:prstGeom prst="rect">
            <a:avLst/>
          </a:prstGeom>
        </p:spPr>
      </p:pic>
      <p:pic>
        <p:nvPicPr>
          <p:cNvPr id="1028" name="Picture 4">
            <a:extLst>
              <a:ext uri="{FF2B5EF4-FFF2-40B4-BE49-F238E27FC236}">
                <a16:creationId xmlns:a16="http://schemas.microsoft.com/office/drawing/2014/main" id="{E2B24FDD-C5A0-E4AD-B083-736A5F6BAD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41541" y="4765250"/>
            <a:ext cx="798801" cy="316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0523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66555-0360-9C8B-0465-35ECAC33284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8C5ECB3-0126-A3FD-9A03-2032B7DA8B60}"/>
              </a:ext>
            </a:extLst>
          </p:cNvPr>
          <p:cNvSpPr>
            <a:spLocks noGrp="1"/>
          </p:cNvSpPr>
          <p:nvPr>
            <p:ph type="title"/>
          </p:nvPr>
        </p:nvSpPr>
        <p:spPr/>
        <p:txBody>
          <a:bodyPr/>
          <a:lstStyle/>
          <a:p>
            <a:r>
              <a:rPr lang="en-GB" dirty="0"/>
              <a:t>Be aware of overfitting</a:t>
            </a:r>
          </a:p>
        </p:txBody>
      </p:sp>
      <p:pic>
        <p:nvPicPr>
          <p:cNvPr id="5" name="Immagine 4" descr="Immagine che contiene testo, linea, Diagramma, diagramma&#10;&#10;Descrizione generata automaticamente">
            <a:extLst>
              <a:ext uri="{FF2B5EF4-FFF2-40B4-BE49-F238E27FC236}">
                <a16:creationId xmlns:a16="http://schemas.microsoft.com/office/drawing/2014/main" id="{4D12D339-2BD1-2050-30CF-E400B8D08723}"/>
              </a:ext>
            </a:extLst>
          </p:cNvPr>
          <p:cNvPicPr>
            <a:picLocks noChangeAspect="1"/>
          </p:cNvPicPr>
          <p:nvPr/>
        </p:nvPicPr>
        <p:blipFill>
          <a:blip r:embed="rId2"/>
          <a:stretch>
            <a:fillRect/>
          </a:stretch>
        </p:blipFill>
        <p:spPr>
          <a:xfrm>
            <a:off x="876652" y="3517898"/>
            <a:ext cx="4996880" cy="3123050"/>
          </a:xfrm>
          <a:prstGeom prst="rect">
            <a:avLst/>
          </a:prstGeom>
        </p:spPr>
      </p:pic>
      <p:pic>
        <p:nvPicPr>
          <p:cNvPr id="7" name="Immagine 6" descr="Immagine che contiene testo, Diagramma, linea, diagramma&#10;&#10;Descrizione generata automaticamente">
            <a:extLst>
              <a:ext uri="{FF2B5EF4-FFF2-40B4-BE49-F238E27FC236}">
                <a16:creationId xmlns:a16="http://schemas.microsoft.com/office/drawing/2014/main" id="{37620121-386B-1FD9-F6CA-3FAA5544779E}"/>
              </a:ext>
            </a:extLst>
          </p:cNvPr>
          <p:cNvPicPr>
            <a:picLocks noChangeAspect="1"/>
          </p:cNvPicPr>
          <p:nvPr/>
        </p:nvPicPr>
        <p:blipFill>
          <a:blip r:embed="rId3"/>
          <a:stretch>
            <a:fillRect/>
          </a:stretch>
        </p:blipFill>
        <p:spPr>
          <a:xfrm>
            <a:off x="6132150" y="3517898"/>
            <a:ext cx="4996880" cy="3123050"/>
          </a:xfrm>
          <a:prstGeom prst="rect">
            <a:avLst/>
          </a:prstGeom>
        </p:spPr>
      </p:pic>
      <p:sp>
        <p:nvSpPr>
          <p:cNvPr id="3" name="Segnaposto contenuto 2">
            <a:extLst>
              <a:ext uri="{FF2B5EF4-FFF2-40B4-BE49-F238E27FC236}">
                <a16:creationId xmlns:a16="http://schemas.microsoft.com/office/drawing/2014/main" id="{BA9193B0-C6E0-D84F-BFD1-A0A197CD61CB}"/>
              </a:ext>
            </a:extLst>
          </p:cNvPr>
          <p:cNvSpPr>
            <a:spLocks noGrp="1"/>
          </p:cNvSpPr>
          <p:nvPr>
            <p:ph idx="1"/>
          </p:nvPr>
        </p:nvSpPr>
        <p:spPr/>
        <p:txBody>
          <a:bodyPr/>
          <a:lstStyle/>
          <a:p>
            <a:pPr>
              <a:buFont typeface="Wingdings" panose="05000000000000000000" pitchFamily="2" charset="2"/>
              <a:buChar char="Ø"/>
            </a:pPr>
            <a:r>
              <a:rPr lang="en-GB" b="1" dirty="0"/>
              <a:t>Overfitting</a:t>
            </a:r>
            <a:r>
              <a:rPr lang="en-GB" dirty="0"/>
              <a:t> occurs when a neural network learns the details and noise in the training data to such an extent that it </a:t>
            </a:r>
            <a:r>
              <a:rPr lang="en-GB" b="1" dirty="0"/>
              <a:t>performs poorly on new, unseen data</a:t>
            </a:r>
            <a:r>
              <a:rPr lang="en-GB" dirty="0"/>
              <a:t>.</a:t>
            </a:r>
          </a:p>
          <a:p>
            <a:pPr>
              <a:buFont typeface="Wingdings" panose="05000000000000000000" pitchFamily="2" charset="2"/>
              <a:buChar char="Ø"/>
            </a:pPr>
            <a:r>
              <a:rPr lang="en-GB" dirty="0"/>
              <a:t>Instead of generalizing to capture the underlying patterns in the data, </a:t>
            </a:r>
            <a:r>
              <a:rPr lang="en-GB" b="1" dirty="0"/>
              <a:t>the model becomes overly specialized to the training dataset</a:t>
            </a:r>
            <a:r>
              <a:rPr lang="en-GB" dirty="0"/>
              <a:t>, resulting in high accuracy on the training data but poor performance on validation or test datasets.</a:t>
            </a:r>
          </a:p>
          <a:p>
            <a:pPr>
              <a:buFont typeface="Wingdings" panose="05000000000000000000" pitchFamily="2" charset="2"/>
              <a:buChar char="Ø"/>
            </a:pPr>
            <a:r>
              <a:rPr lang="en-GB" dirty="0"/>
              <a:t>Overfitting can be caused by </a:t>
            </a:r>
            <a:r>
              <a:rPr lang="en-GB" b="1" dirty="0"/>
              <a:t>training for too long </a:t>
            </a:r>
            <a:r>
              <a:rPr lang="en-GB" dirty="0"/>
              <a:t>(too many epochs!)</a:t>
            </a:r>
          </a:p>
        </p:txBody>
      </p:sp>
    </p:spTree>
    <p:extLst>
      <p:ext uri="{BB962C8B-B14F-4D97-AF65-F5344CB8AC3E}">
        <p14:creationId xmlns:p14="http://schemas.microsoft.com/office/powerpoint/2010/main" val="2579010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EAAA9F2-2846-4C29-FA3C-707CC0FA5797}"/>
              </a:ext>
            </a:extLst>
          </p:cNvPr>
          <p:cNvSpPr>
            <a:spLocks noGrp="1"/>
          </p:cNvSpPr>
          <p:nvPr>
            <p:ph type="title"/>
          </p:nvPr>
        </p:nvSpPr>
        <p:spPr/>
        <p:txBody>
          <a:bodyPr/>
          <a:lstStyle/>
          <a:p>
            <a:r>
              <a:rPr lang="en-GB" dirty="0"/>
              <a:t>Neural Network Architectures (two examples)</a:t>
            </a:r>
          </a:p>
        </p:txBody>
      </p:sp>
      <p:sp>
        <p:nvSpPr>
          <p:cNvPr id="3" name="Segnaposto contenuto 2">
            <a:extLst>
              <a:ext uri="{FF2B5EF4-FFF2-40B4-BE49-F238E27FC236}">
                <a16:creationId xmlns:a16="http://schemas.microsoft.com/office/drawing/2014/main" id="{50765D75-4C4E-3C47-A9EF-8443BE3E8F1E}"/>
              </a:ext>
            </a:extLst>
          </p:cNvPr>
          <p:cNvSpPr>
            <a:spLocks noGrp="1"/>
          </p:cNvSpPr>
          <p:nvPr>
            <p:ph idx="1"/>
          </p:nvPr>
        </p:nvSpPr>
        <p:spPr/>
        <p:txBody>
          <a:bodyPr/>
          <a:lstStyle/>
          <a:p>
            <a:pPr>
              <a:buFont typeface="Wingdings" panose="05000000000000000000" pitchFamily="2" charset="2"/>
              <a:buChar char="Ø"/>
            </a:pPr>
            <a:r>
              <a:rPr lang="en-GB" dirty="0"/>
              <a:t>Different arrangements of neurons are called </a:t>
            </a:r>
            <a:r>
              <a:rPr lang="en-GB" b="1" dirty="0"/>
              <a:t>architectures</a:t>
            </a:r>
            <a:r>
              <a:rPr lang="en-GB" dirty="0"/>
              <a:t>.</a:t>
            </a:r>
          </a:p>
          <a:p>
            <a:pPr>
              <a:buFont typeface="Wingdings" panose="05000000000000000000" pitchFamily="2" charset="2"/>
              <a:buChar char="Ø"/>
            </a:pPr>
            <a:r>
              <a:rPr lang="en-GB" dirty="0"/>
              <a:t>Different architectures are designed to be optimal for </a:t>
            </a:r>
            <a:r>
              <a:rPr lang="en-GB" b="1" dirty="0"/>
              <a:t>different tasks</a:t>
            </a:r>
            <a:r>
              <a:rPr lang="en-GB" dirty="0"/>
              <a:t>.</a:t>
            </a:r>
          </a:p>
          <a:p>
            <a:pPr>
              <a:buFont typeface="Wingdings" panose="05000000000000000000" pitchFamily="2" charset="2"/>
              <a:buChar char="Ø"/>
            </a:pPr>
            <a:endParaRPr lang="en-GB" u="sng" dirty="0"/>
          </a:p>
        </p:txBody>
      </p:sp>
      <p:sp>
        <p:nvSpPr>
          <p:cNvPr id="4" name="Content Placeholder 7">
            <a:extLst>
              <a:ext uri="{FF2B5EF4-FFF2-40B4-BE49-F238E27FC236}">
                <a16:creationId xmlns:a16="http://schemas.microsoft.com/office/drawing/2014/main" id="{E4CCDCC3-2E79-9213-D791-F145BD3AD496}"/>
              </a:ext>
            </a:extLst>
          </p:cNvPr>
          <p:cNvSpPr txBox="1">
            <a:spLocks/>
          </p:cNvSpPr>
          <p:nvPr/>
        </p:nvSpPr>
        <p:spPr>
          <a:xfrm>
            <a:off x="600075" y="2763826"/>
            <a:ext cx="5314950" cy="3563947"/>
          </a:xfrm>
          <a:prstGeom prst="rect">
            <a:avLst/>
          </a:prstGeom>
          <a:ln w="19050">
            <a:solidFill>
              <a:srgbClr val="FF0000"/>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Feedforward Neural Network</a:t>
            </a:r>
            <a:r>
              <a:rPr lang="en-GB" dirty="0"/>
              <a:t>:</a:t>
            </a:r>
          </a:p>
          <a:p>
            <a:pPr lvl="1"/>
            <a:r>
              <a:rPr lang="en-GB" dirty="0"/>
              <a:t>Fully-connected layers (“perceptron”)</a:t>
            </a:r>
          </a:p>
          <a:p>
            <a:pPr lvl="1"/>
            <a:r>
              <a:rPr lang="en-GB" dirty="0"/>
              <a:t>Used for classification and regression tasks</a:t>
            </a:r>
          </a:p>
          <a:p>
            <a:pPr lvl="1"/>
            <a:r>
              <a:rPr lang="en-GB" dirty="0"/>
              <a:t>Can approximate functions (!!!)</a:t>
            </a:r>
          </a:p>
        </p:txBody>
      </p:sp>
      <p:sp>
        <p:nvSpPr>
          <p:cNvPr id="5" name="Content Placeholder 8">
            <a:extLst>
              <a:ext uri="{FF2B5EF4-FFF2-40B4-BE49-F238E27FC236}">
                <a16:creationId xmlns:a16="http://schemas.microsoft.com/office/drawing/2014/main" id="{117C5476-82C5-240A-C0E2-A764A5253642}"/>
              </a:ext>
            </a:extLst>
          </p:cNvPr>
          <p:cNvSpPr txBox="1">
            <a:spLocks/>
          </p:cNvSpPr>
          <p:nvPr/>
        </p:nvSpPr>
        <p:spPr>
          <a:xfrm>
            <a:off x="6275388" y="2763827"/>
            <a:ext cx="5314950" cy="3563948"/>
          </a:xfrm>
          <a:prstGeom prst="rect">
            <a:avLst/>
          </a:prstGeom>
          <a:ln w="19050">
            <a:solidFill>
              <a:schemeClr val="accent1"/>
            </a:solidFill>
          </a:ln>
        </p:spPr>
        <p:txBody>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Convolutional Neural Network</a:t>
            </a:r>
            <a:r>
              <a:rPr lang="en-GB" dirty="0"/>
              <a:t>:</a:t>
            </a:r>
          </a:p>
          <a:p>
            <a:pPr lvl="1"/>
            <a:r>
              <a:rPr lang="en-GB" dirty="0"/>
              <a:t>Convolutional layers (filters)</a:t>
            </a:r>
          </a:p>
          <a:p>
            <a:pPr lvl="1"/>
            <a:r>
              <a:rPr lang="en-GB" dirty="0"/>
              <a:t>Used for processing visual data</a:t>
            </a:r>
          </a:p>
          <a:p>
            <a:pPr lvl="1"/>
            <a:r>
              <a:rPr lang="en-GB" dirty="0"/>
              <a:t>Used in facial recognition and medical images</a:t>
            </a:r>
          </a:p>
        </p:txBody>
      </p:sp>
      <p:pic>
        <p:nvPicPr>
          <p:cNvPr id="3074" name="Picture 2" descr="FeedForward Neural Networks">
            <a:extLst>
              <a:ext uri="{FF2B5EF4-FFF2-40B4-BE49-F238E27FC236}">
                <a16:creationId xmlns:a16="http://schemas.microsoft.com/office/drawing/2014/main" id="{58C0F2BB-B081-F7E5-F65D-426CB476B7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4320" y="4178803"/>
            <a:ext cx="3906460" cy="191948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 Comprehensive Guide to Convolutional Neural Networks — the ELI5 way | by  Sumit Saha | Towards Data Science">
            <a:extLst>
              <a:ext uri="{FF2B5EF4-FFF2-40B4-BE49-F238E27FC236}">
                <a16:creationId xmlns:a16="http://schemas.microsoft.com/office/drawing/2014/main" id="{68FCF73A-0C44-91B5-7C76-3C30D9F79F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6164" y="4537625"/>
            <a:ext cx="4936756" cy="1667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7526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BA25AE0-E548-8540-564A-C49EF39450E1}"/>
              </a:ext>
            </a:extLst>
          </p:cNvPr>
          <p:cNvSpPr>
            <a:spLocks noGrp="1"/>
          </p:cNvSpPr>
          <p:nvPr>
            <p:ph type="title"/>
          </p:nvPr>
        </p:nvSpPr>
        <p:spPr/>
        <p:txBody>
          <a:bodyPr/>
          <a:lstStyle/>
          <a:p>
            <a:r>
              <a:rPr lang="en-GB" dirty="0"/>
              <a:t>What are they good at?</a:t>
            </a:r>
          </a:p>
        </p:txBody>
      </p:sp>
      <p:sp>
        <p:nvSpPr>
          <p:cNvPr id="3" name="Segnaposto contenuto 2">
            <a:extLst>
              <a:ext uri="{FF2B5EF4-FFF2-40B4-BE49-F238E27FC236}">
                <a16:creationId xmlns:a16="http://schemas.microsoft.com/office/drawing/2014/main" id="{7B5F212D-CC67-B83E-A130-39BAEB1B7097}"/>
              </a:ext>
            </a:extLst>
          </p:cNvPr>
          <p:cNvSpPr>
            <a:spLocks noGrp="1"/>
          </p:cNvSpPr>
          <p:nvPr>
            <p:ph idx="1"/>
          </p:nvPr>
        </p:nvSpPr>
        <p:spPr/>
        <p:txBody>
          <a:bodyPr/>
          <a:lstStyle/>
          <a:p>
            <a:pPr>
              <a:buFont typeface="Wingdings" panose="05000000000000000000" pitchFamily="2" charset="2"/>
              <a:buChar char="Ø"/>
            </a:pPr>
            <a:endParaRPr lang="en-GB" dirty="0"/>
          </a:p>
          <a:p>
            <a:pPr>
              <a:buFont typeface="Wingdings" panose="05000000000000000000" pitchFamily="2" charset="2"/>
              <a:buChar char="Ø"/>
            </a:pPr>
            <a:r>
              <a:rPr lang="en-GB" b="1" dirty="0"/>
              <a:t>Real-world applications</a:t>
            </a:r>
            <a:r>
              <a:rPr lang="en-GB" dirty="0"/>
              <a:t>:</a:t>
            </a:r>
          </a:p>
          <a:p>
            <a:pPr lvl="1">
              <a:buFont typeface="Wingdings" panose="05000000000000000000" pitchFamily="2" charset="2"/>
              <a:buChar char="Ø"/>
            </a:pPr>
            <a:r>
              <a:rPr lang="en-GB" dirty="0"/>
              <a:t>Identification of objects, facial recognition, medical diagnostics, autonomous vehicles.</a:t>
            </a:r>
          </a:p>
          <a:p>
            <a:pPr lvl="1">
              <a:buFont typeface="Wingdings" panose="05000000000000000000" pitchFamily="2" charset="2"/>
              <a:buChar char="Ø"/>
            </a:pPr>
            <a:endParaRPr lang="en-GB" dirty="0"/>
          </a:p>
          <a:p>
            <a:pPr>
              <a:buFont typeface="Wingdings" panose="05000000000000000000" pitchFamily="2" charset="2"/>
              <a:buChar char="Ø"/>
            </a:pPr>
            <a:r>
              <a:rPr lang="en-GB" b="1" dirty="0"/>
              <a:t>Natural Language Processing</a:t>
            </a:r>
            <a:r>
              <a:rPr lang="en-GB" dirty="0"/>
              <a:t>:</a:t>
            </a:r>
          </a:p>
          <a:p>
            <a:pPr lvl="1">
              <a:buFont typeface="Wingdings" panose="05000000000000000000" pitchFamily="2" charset="2"/>
              <a:buChar char="Ø"/>
            </a:pPr>
            <a:r>
              <a:rPr lang="en-GB" dirty="0"/>
              <a:t>Understand human language, chatbots, language translation, sentiment analysis</a:t>
            </a:r>
          </a:p>
          <a:p>
            <a:pPr lvl="1">
              <a:buFont typeface="Wingdings" panose="05000000000000000000" pitchFamily="2" charset="2"/>
              <a:buChar char="Ø"/>
            </a:pPr>
            <a:endParaRPr lang="en-GB" dirty="0"/>
          </a:p>
          <a:p>
            <a:pPr>
              <a:buFont typeface="Wingdings" panose="05000000000000000000" pitchFamily="2" charset="2"/>
              <a:buChar char="Ø"/>
            </a:pPr>
            <a:r>
              <a:rPr lang="en-GB" b="1" dirty="0"/>
              <a:t>Applications in architecture</a:t>
            </a:r>
            <a:r>
              <a:rPr lang="en-GB" dirty="0"/>
              <a:t>:</a:t>
            </a:r>
          </a:p>
          <a:p>
            <a:pPr lvl="1">
              <a:buFont typeface="Wingdings" panose="05000000000000000000" pitchFamily="2" charset="2"/>
              <a:buChar char="Ø"/>
            </a:pPr>
            <a:r>
              <a:rPr lang="en-GB" dirty="0"/>
              <a:t>Generative design, structural analysis, building information modelling (BIM)</a:t>
            </a:r>
          </a:p>
          <a:p>
            <a:pPr lvl="1">
              <a:buFont typeface="Wingdings" panose="05000000000000000000" pitchFamily="2" charset="2"/>
              <a:buChar char="Ø"/>
            </a:pPr>
            <a:endParaRPr lang="en-GB" dirty="0"/>
          </a:p>
          <a:p>
            <a:pPr>
              <a:buFont typeface="Wingdings" panose="05000000000000000000" pitchFamily="2" charset="2"/>
              <a:buChar char="Ø"/>
            </a:pPr>
            <a:r>
              <a:rPr lang="en-GB" b="1" dirty="0"/>
              <a:t>Applications in acoustics</a:t>
            </a:r>
            <a:r>
              <a:rPr lang="en-GB" dirty="0"/>
              <a:t>:</a:t>
            </a:r>
          </a:p>
          <a:p>
            <a:pPr lvl="1">
              <a:buFont typeface="Wingdings" panose="05000000000000000000" pitchFamily="2" charset="2"/>
              <a:buChar char="Ø"/>
            </a:pPr>
            <a:r>
              <a:rPr lang="en-GB" dirty="0"/>
              <a:t>Acoustic feature recognition, shape optimization, and more on the second module…</a:t>
            </a:r>
          </a:p>
          <a:p>
            <a:pPr lvl="1">
              <a:buFont typeface="Wingdings" panose="05000000000000000000" pitchFamily="2" charset="2"/>
              <a:buChar char="Ø"/>
            </a:pPr>
            <a:endParaRPr lang="en-GB" dirty="0"/>
          </a:p>
        </p:txBody>
      </p:sp>
      <p:pic>
        <p:nvPicPr>
          <p:cNvPr id="2050" name="Picture 2">
            <a:extLst>
              <a:ext uri="{FF2B5EF4-FFF2-40B4-BE49-F238E27FC236}">
                <a16:creationId xmlns:a16="http://schemas.microsoft.com/office/drawing/2014/main" id="{CDFBB432-B8B7-DA1C-74C2-B240385015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7345" y="2922298"/>
            <a:ext cx="2104593" cy="2104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546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05C2050-7A87-0FC7-A5D4-D3DFA8CEF041}"/>
              </a:ext>
            </a:extLst>
          </p:cNvPr>
          <p:cNvSpPr>
            <a:spLocks noGrp="1"/>
          </p:cNvSpPr>
          <p:nvPr>
            <p:ph type="title"/>
          </p:nvPr>
        </p:nvSpPr>
        <p:spPr/>
        <p:txBody>
          <a:bodyPr/>
          <a:lstStyle/>
          <a:p>
            <a:r>
              <a:rPr lang="en-GB" dirty="0"/>
              <a:t>What are they bad at?</a:t>
            </a:r>
          </a:p>
        </p:txBody>
      </p:sp>
      <p:sp>
        <p:nvSpPr>
          <p:cNvPr id="3" name="Segnaposto contenuto 2">
            <a:extLst>
              <a:ext uri="{FF2B5EF4-FFF2-40B4-BE49-F238E27FC236}">
                <a16:creationId xmlns:a16="http://schemas.microsoft.com/office/drawing/2014/main" id="{61A10F85-7065-124C-8DFA-AAD7A9D8B025}"/>
              </a:ext>
            </a:extLst>
          </p:cNvPr>
          <p:cNvSpPr>
            <a:spLocks noGrp="1"/>
          </p:cNvSpPr>
          <p:nvPr>
            <p:ph idx="1"/>
          </p:nvPr>
        </p:nvSpPr>
        <p:spPr>
          <a:xfrm>
            <a:off x="600075" y="2327698"/>
            <a:ext cx="10990263" cy="4530302"/>
          </a:xfrm>
        </p:spPr>
        <p:txBody>
          <a:bodyPr/>
          <a:lstStyle/>
          <a:p>
            <a:pPr>
              <a:buFont typeface="Wingdings" panose="05000000000000000000" pitchFamily="2" charset="2"/>
              <a:buChar char="Ø"/>
            </a:pPr>
            <a:r>
              <a:rPr lang="en-GB" dirty="0"/>
              <a:t>Neural networks often require </a:t>
            </a:r>
            <a:r>
              <a:rPr lang="en-GB" b="1" dirty="0"/>
              <a:t>large amounts of high-quality data</a:t>
            </a:r>
          </a:p>
          <a:p>
            <a:pPr>
              <a:buFont typeface="Wingdings" panose="05000000000000000000" pitchFamily="2" charset="2"/>
              <a:buChar char="Ø"/>
            </a:pPr>
            <a:endParaRPr lang="en-GB" dirty="0"/>
          </a:p>
          <a:p>
            <a:pPr>
              <a:buFont typeface="Wingdings" panose="05000000000000000000" pitchFamily="2" charset="2"/>
              <a:buChar char="Ø"/>
            </a:pPr>
            <a:r>
              <a:rPr lang="en-GB" dirty="0"/>
              <a:t>NNs require significant </a:t>
            </a:r>
            <a:r>
              <a:rPr lang="en-GB" b="1" dirty="0"/>
              <a:t>computational power </a:t>
            </a:r>
            <a:r>
              <a:rPr lang="en-GB" dirty="0"/>
              <a:t>(bad for the environment and time-consuming)</a:t>
            </a:r>
          </a:p>
          <a:p>
            <a:pPr>
              <a:buFont typeface="Wingdings" panose="05000000000000000000" pitchFamily="2" charset="2"/>
              <a:buChar char="Ø"/>
            </a:pPr>
            <a:endParaRPr lang="en-GB" dirty="0"/>
          </a:p>
          <a:p>
            <a:pPr>
              <a:buFont typeface="Wingdings" panose="05000000000000000000" pitchFamily="2" charset="2"/>
              <a:buChar char="Ø"/>
            </a:pPr>
            <a:r>
              <a:rPr lang="en-GB" dirty="0"/>
              <a:t>Overfitting: the model cannot generalise and </a:t>
            </a:r>
            <a:r>
              <a:rPr lang="en-GB" b="1" dirty="0"/>
              <a:t>perform poorly on unseen data</a:t>
            </a:r>
            <a:r>
              <a:rPr lang="en-GB" dirty="0"/>
              <a:t>.</a:t>
            </a:r>
          </a:p>
          <a:p>
            <a:pPr>
              <a:buFont typeface="Wingdings" panose="05000000000000000000" pitchFamily="2" charset="2"/>
              <a:buChar char="Ø"/>
            </a:pPr>
            <a:endParaRPr lang="en-GB" dirty="0"/>
          </a:p>
          <a:p>
            <a:pPr>
              <a:buFont typeface="Wingdings" panose="05000000000000000000" pitchFamily="2" charset="2"/>
              <a:buChar char="Ø"/>
            </a:pPr>
            <a:r>
              <a:rPr lang="en-GB" dirty="0"/>
              <a:t>NNs are </a:t>
            </a:r>
            <a:r>
              <a:rPr lang="en-GB" b="1" dirty="0"/>
              <a:t>difficult to interpret </a:t>
            </a:r>
            <a:r>
              <a:rPr lang="en-GB" dirty="0"/>
              <a:t>and are usually seen as “black boxes”.</a:t>
            </a:r>
          </a:p>
        </p:txBody>
      </p:sp>
      <p:pic>
        <p:nvPicPr>
          <p:cNvPr id="8194" name="Picture 2">
            <a:extLst>
              <a:ext uri="{FF2B5EF4-FFF2-40B4-BE49-F238E27FC236}">
                <a16:creationId xmlns:a16="http://schemas.microsoft.com/office/drawing/2014/main" id="{38C10E16-8451-D0D5-9B9A-F7A82E8FCF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7213" y="341455"/>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E445051-A733-7955-FA1C-9F9E7AB951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68107" y="3629889"/>
            <a:ext cx="2701336" cy="30419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2916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4D6395-CEC3-D9E6-D90E-2B39EAF67980}"/>
              </a:ext>
            </a:extLst>
          </p:cNvPr>
          <p:cNvSpPr>
            <a:spLocks noGrp="1"/>
          </p:cNvSpPr>
          <p:nvPr>
            <p:ph type="title"/>
          </p:nvPr>
        </p:nvSpPr>
        <p:spPr>
          <a:xfrm>
            <a:off x="600868" y="2203215"/>
            <a:ext cx="10990263" cy="568412"/>
          </a:xfrm>
        </p:spPr>
        <p:txBody>
          <a:bodyPr/>
          <a:lstStyle/>
          <a:p>
            <a:pPr algn="ctr"/>
            <a:r>
              <a:rPr lang="en-GB" dirty="0"/>
              <a:t>MODULE 2</a:t>
            </a:r>
            <a:br>
              <a:rPr lang="en-GB" dirty="0"/>
            </a:br>
            <a:br>
              <a:rPr lang="en-GB" dirty="0"/>
            </a:br>
            <a:r>
              <a:rPr lang="en-GB" dirty="0"/>
              <a:t>INTRODUCTION TO</a:t>
            </a:r>
            <a:br>
              <a:rPr lang="en-GB" dirty="0"/>
            </a:br>
            <a:r>
              <a:rPr lang="en-GB" dirty="0"/>
              <a:t>REGRESSION PROBLEMS</a:t>
            </a:r>
            <a:br>
              <a:rPr lang="en-GB" dirty="0"/>
            </a:br>
            <a:r>
              <a:rPr lang="en-GB" dirty="0"/>
              <a:t>AND OPTIMIZATION</a:t>
            </a:r>
          </a:p>
        </p:txBody>
      </p:sp>
    </p:spTree>
    <p:extLst>
      <p:ext uri="{BB962C8B-B14F-4D97-AF65-F5344CB8AC3E}">
        <p14:creationId xmlns:p14="http://schemas.microsoft.com/office/powerpoint/2010/main" val="2846480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55E0E70-A5B8-0C05-B44E-2EB129112FDA}"/>
              </a:ext>
            </a:extLst>
          </p:cNvPr>
          <p:cNvSpPr>
            <a:spLocks noGrp="1"/>
          </p:cNvSpPr>
          <p:nvPr>
            <p:ph type="title"/>
          </p:nvPr>
        </p:nvSpPr>
        <p:spPr/>
        <p:txBody>
          <a:bodyPr/>
          <a:lstStyle/>
          <a:p>
            <a:r>
              <a:rPr lang="en-GB" dirty="0"/>
              <a:t>What is a regression problem?</a:t>
            </a:r>
          </a:p>
        </p:txBody>
      </p:sp>
      <p:sp>
        <p:nvSpPr>
          <p:cNvPr id="3" name="Segnaposto contenuto 2">
            <a:extLst>
              <a:ext uri="{FF2B5EF4-FFF2-40B4-BE49-F238E27FC236}">
                <a16:creationId xmlns:a16="http://schemas.microsoft.com/office/drawing/2014/main" id="{664F92DE-DD9E-CE1F-0CE0-83F7EC848782}"/>
              </a:ext>
            </a:extLst>
          </p:cNvPr>
          <p:cNvSpPr>
            <a:spLocks noGrp="1"/>
          </p:cNvSpPr>
          <p:nvPr>
            <p:ph idx="1"/>
          </p:nvPr>
        </p:nvSpPr>
        <p:spPr>
          <a:xfrm>
            <a:off x="600076" y="1795850"/>
            <a:ext cx="6133234" cy="4530302"/>
          </a:xfrm>
        </p:spPr>
        <p:txBody>
          <a:bodyPr/>
          <a:lstStyle/>
          <a:p>
            <a:pPr>
              <a:buFont typeface="Wingdings" panose="05000000000000000000" pitchFamily="2" charset="2"/>
              <a:buChar char="Ø"/>
            </a:pPr>
            <a:r>
              <a:rPr lang="en-GB" b="1" dirty="0"/>
              <a:t>Regression</a:t>
            </a:r>
            <a:r>
              <a:rPr lang="en-GB" dirty="0"/>
              <a:t> is a type of </a:t>
            </a:r>
            <a:r>
              <a:rPr lang="en-GB" b="1" dirty="0"/>
              <a:t>supervised learning</a:t>
            </a:r>
            <a:r>
              <a:rPr lang="en-GB" dirty="0"/>
              <a:t> task where the goal is to </a:t>
            </a:r>
            <a:r>
              <a:rPr lang="en-GB" b="1" dirty="0"/>
              <a:t>predict a continuous (real-valued) output</a:t>
            </a:r>
            <a:r>
              <a:rPr lang="en-GB" dirty="0"/>
              <a:t> from one or more input features.</a:t>
            </a:r>
          </a:p>
          <a:p>
            <a:pPr>
              <a:buFont typeface="Wingdings" panose="05000000000000000000" pitchFamily="2" charset="2"/>
              <a:buChar char="Ø"/>
            </a:pPr>
            <a:r>
              <a:rPr lang="en-GB" b="1" dirty="0"/>
              <a:t>Examples</a:t>
            </a:r>
            <a:r>
              <a:rPr lang="en-GB" dirty="0"/>
              <a:t>: House price prediction, Weather forecasting, Daylight in a room, Acoustic Reverberation Time.</a:t>
            </a:r>
          </a:p>
          <a:p>
            <a:pPr marL="0" indent="0">
              <a:buNone/>
            </a:pPr>
            <a:endParaRPr lang="en-GB" dirty="0"/>
          </a:p>
          <a:p>
            <a:pPr>
              <a:buFont typeface="Wingdings" panose="05000000000000000000" pitchFamily="2" charset="2"/>
              <a:buChar char="Ø"/>
            </a:pPr>
            <a:r>
              <a:rPr lang="en-GB" b="1" dirty="0"/>
              <a:t>Neural networks</a:t>
            </a:r>
            <a:r>
              <a:rPr lang="en-GB" dirty="0"/>
              <a:t> learn a continuous mapping from inputs to outputs by minimizing a suitable loss across a training set, then </a:t>
            </a:r>
            <a:r>
              <a:rPr lang="en-GB" b="1" dirty="0"/>
              <a:t>generalize</a:t>
            </a:r>
            <a:r>
              <a:rPr lang="en-GB" dirty="0"/>
              <a:t> to new data.</a:t>
            </a:r>
          </a:p>
          <a:p>
            <a:pPr>
              <a:buFont typeface="Wingdings" panose="05000000000000000000" pitchFamily="2" charset="2"/>
              <a:buChar char="Ø"/>
            </a:pPr>
            <a:r>
              <a:rPr lang="en-GB" b="1" dirty="0"/>
              <a:t>Example</a:t>
            </a:r>
            <a:r>
              <a:rPr lang="en-GB" dirty="0"/>
              <a:t>: the model learns (from </a:t>
            </a:r>
            <a:r>
              <a:rPr lang="en-GB" b="1" dirty="0"/>
              <a:t>past data</a:t>
            </a:r>
            <a:r>
              <a:rPr lang="en-GB" dirty="0"/>
              <a:t>) how to associate window size to daylight level in a room. The noise is due to windows orientation and weather. Then it generalizes to present and future data.</a:t>
            </a:r>
          </a:p>
          <a:p>
            <a:pPr marL="0" indent="0">
              <a:buNone/>
            </a:pPr>
            <a:endParaRPr lang="en-GB" dirty="0"/>
          </a:p>
          <a:p>
            <a:pPr marL="0" indent="0">
              <a:buNone/>
            </a:pPr>
            <a:endParaRPr lang="en-GB" dirty="0"/>
          </a:p>
        </p:txBody>
      </p:sp>
      <p:pic>
        <p:nvPicPr>
          <p:cNvPr id="4" name="Picture 2" descr="Linear Regression Using Non-Linear Data: Understanding Ordinary Least  Squares (OLS) | by Nadeem | Medium">
            <a:extLst>
              <a:ext uri="{FF2B5EF4-FFF2-40B4-BE49-F238E27FC236}">
                <a16:creationId xmlns:a16="http://schemas.microsoft.com/office/drawing/2014/main" id="{F9B81792-09E8-9E24-A7EC-D31BCC4A99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3172" y="1888837"/>
            <a:ext cx="4792720" cy="3551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004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26B9733-EAA3-32C0-BE54-9F32C76BA82C}"/>
              </a:ext>
            </a:extLst>
          </p:cNvPr>
          <p:cNvSpPr>
            <a:spLocks noGrp="1"/>
          </p:cNvSpPr>
          <p:nvPr>
            <p:ph type="title"/>
          </p:nvPr>
        </p:nvSpPr>
        <p:spPr/>
        <p:txBody>
          <a:bodyPr/>
          <a:lstStyle/>
          <a:p>
            <a:r>
              <a:rPr lang="en-GB" dirty="0"/>
              <a:t>Linear regression</a:t>
            </a:r>
          </a:p>
        </p:txBody>
      </p:sp>
      <p:sp>
        <p:nvSpPr>
          <p:cNvPr id="3" name="Segnaposto contenuto 2">
            <a:extLst>
              <a:ext uri="{FF2B5EF4-FFF2-40B4-BE49-F238E27FC236}">
                <a16:creationId xmlns:a16="http://schemas.microsoft.com/office/drawing/2014/main" id="{978AC7EE-4CCD-6175-682B-4EE40A62604A}"/>
              </a:ext>
            </a:extLst>
          </p:cNvPr>
          <p:cNvSpPr>
            <a:spLocks noGrp="1"/>
          </p:cNvSpPr>
          <p:nvPr>
            <p:ph idx="1"/>
          </p:nvPr>
        </p:nvSpPr>
        <p:spPr>
          <a:xfrm>
            <a:off x="600075" y="1795849"/>
            <a:ext cx="13827141" cy="12288587"/>
          </a:xfrm>
        </p:spPr>
        <p:txBody>
          <a:bodyPr/>
          <a:lstStyle/>
          <a:p>
            <a:pPr>
              <a:buFont typeface="Wingdings" panose="05000000000000000000" pitchFamily="2" charset="2"/>
              <a:buChar char="Ø"/>
            </a:pPr>
            <a:r>
              <a:rPr lang="en-GB" dirty="0"/>
              <a:t>We must </a:t>
            </a:r>
            <a:r>
              <a:rPr lang="en-GB" i="1" dirty="0"/>
              <a:t>decide</a:t>
            </a:r>
            <a:r>
              <a:rPr lang="en-GB" dirty="0"/>
              <a:t> how to model the data:</a:t>
            </a:r>
          </a:p>
        </p:txBody>
      </p:sp>
      <p:sp>
        <p:nvSpPr>
          <p:cNvPr id="8" name="Figura a mano libera: forma 7">
            <a:extLst>
              <a:ext uri="{FF2B5EF4-FFF2-40B4-BE49-F238E27FC236}">
                <a16:creationId xmlns:a16="http://schemas.microsoft.com/office/drawing/2014/main" id="{3DBADD88-93E6-CD27-FEC9-A348A335190F}"/>
              </a:ext>
            </a:extLst>
          </p:cNvPr>
          <p:cNvSpPr/>
          <p:nvPr/>
        </p:nvSpPr>
        <p:spPr>
          <a:xfrm>
            <a:off x="2789382" y="2918691"/>
            <a:ext cx="6289963" cy="3269673"/>
          </a:xfrm>
          <a:custGeom>
            <a:avLst/>
            <a:gdLst>
              <a:gd name="connsiteX0" fmla="*/ 0 w 6289963"/>
              <a:gd name="connsiteY0" fmla="*/ 3269673 h 3269673"/>
              <a:gd name="connsiteX1" fmla="*/ 2373745 w 6289963"/>
              <a:gd name="connsiteY1" fmla="*/ 2586182 h 3269673"/>
              <a:gd name="connsiteX2" fmla="*/ 6243782 w 6289963"/>
              <a:gd name="connsiteY2" fmla="*/ 0 h 3269673"/>
              <a:gd name="connsiteX3" fmla="*/ 6243782 w 6289963"/>
              <a:gd name="connsiteY3" fmla="*/ 0 h 3269673"/>
              <a:gd name="connsiteX4" fmla="*/ 6289963 w 6289963"/>
              <a:gd name="connsiteY4" fmla="*/ 9236 h 3269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9963" h="3269673">
                <a:moveTo>
                  <a:pt x="0" y="3269673"/>
                </a:moveTo>
                <a:cubicBezTo>
                  <a:pt x="666557" y="3200400"/>
                  <a:pt x="1333115" y="3131128"/>
                  <a:pt x="2373745" y="2586182"/>
                </a:cubicBezTo>
                <a:cubicBezTo>
                  <a:pt x="3414375" y="2041236"/>
                  <a:pt x="6243782" y="0"/>
                  <a:pt x="6243782" y="0"/>
                </a:cubicBezTo>
                <a:lnTo>
                  <a:pt x="6243782" y="0"/>
                </a:lnTo>
                <a:lnTo>
                  <a:pt x="6289963" y="9236"/>
                </a:lnTo>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igura a mano libera: forma 8">
            <a:extLst>
              <a:ext uri="{FF2B5EF4-FFF2-40B4-BE49-F238E27FC236}">
                <a16:creationId xmlns:a16="http://schemas.microsoft.com/office/drawing/2014/main" id="{A9F81FA9-AFF7-A176-8580-A8015AAF69A1}"/>
              </a:ext>
            </a:extLst>
          </p:cNvPr>
          <p:cNvSpPr/>
          <p:nvPr/>
        </p:nvSpPr>
        <p:spPr>
          <a:xfrm>
            <a:off x="2817091" y="2974109"/>
            <a:ext cx="6160654" cy="3226961"/>
          </a:xfrm>
          <a:custGeom>
            <a:avLst/>
            <a:gdLst>
              <a:gd name="connsiteX0" fmla="*/ 0 w 6160654"/>
              <a:gd name="connsiteY0" fmla="*/ 3186546 h 3226961"/>
              <a:gd name="connsiteX1" fmla="*/ 2032000 w 6160654"/>
              <a:gd name="connsiteY1" fmla="*/ 2780146 h 3226961"/>
              <a:gd name="connsiteX2" fmla="*/ 6160654 w 6160654"/>
              <a:gd name="connsiteY2" fmla="*/ 0 h 3226961"/>
            </a:gdLst>
            <a:ahLst/>
            <a:cxnLst>
              <a:cxn ang="0">
                <a:pos x="connsiteX0" y="connsiteY0"/>
              </a:cxn>
              <a:cxn ang="0">
                <a:pos x="connsiteX1" y="connsiteY1"/>
              </a:cxn>
              <a:cxn ang="0">
                <a:pos x="connsiteX2" y="connsiteY2"/>
              </a:cxn>
            </a:cxnLst>
            <a:rect l="l" t="t" r="r" b="b"/>
            <a:pathLst>
              <a:path w="6160654" h="3226961">
                <a:moveTo>
                  <a:pt x="0" y="3186546"/>
                </a:moveTo>
                <a:cubicBezTo>
                  <a:pt x="502612" y="3248891"/>
                  <a:pt x="1005224" y="3311237"/>
                  <a:pt x="2032000" y="2780146"/>
                </a:cubicBezTo>
                <a:cubicBezTo>
                  <a:pt x="3058776" y="2249055"/>
                  <a:pt x="4609715" y="1124527"/>
                  <a:pt x="6160654" y="0"/>
                </a:cubicBezTo>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52" name="Picture 4">
            <a:extLst>
              <a:ext uri="{FF2B5EF4-FFF2-40B4-BE49-F238E27FC236}">
                <a16:creationId xmlns:a16="http://schemas.microsoft.com/office/drawing/2014/main" id="{9B13C3FE-C403-043C-01B4-2A536D08D4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 y="2188859"/>
            <a:ext cx="7310703" cy="4534486"/>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nettore diritto 4">
            <a:extLst>
              <a:ext uri="{FF2B5EF4-FFF2-40B4-BE49-F238E27FC236}">
                <a16:creationId xmlns:a16="http://schemas.microsoft.com/office/drawing/2014/main" id="{AF0931EE-B0FA-1BA3-659D-DCC56786D142}"/>
              </a:ext>
            </a:extLst>
          </p:cNvPr>
          <p:cNvCxnSpPr>
            <a:cxnSpLocks/>
          </p:cNvCxnSpPr>
          <p:nvPr/>
        </p:nvCxnSpPr>
        <p:spPr>
          <a:xfrm flipV="1">
            <a:off x="1325251" y="3121891"/>
            <a:ext cx="6446982" cy="2983346"/>
          </a:xfrm>
          <a:prstGeom prst="line">
            <a:avLst/>
          </a:prstGeom>
          <a:ln w="38100">
            <a:solidFill>
              <a:srgbClr val="004791"/>
            </a:solidFill>
          </a:ln>
        </p:spPr>
        <p:style>
          <a:lnRef idx="1">
            <a:schemeClr val="accent1"/>
          </a:lnRef>
          <a:fillRef idx="0">
            <a:schemeClr val="accent1"/>
          </a:fillRef>
          <a:effectRef idx="0">
            <a:schemeClr val="accent1"/>
          </a:effectRef>
          <a:fontRef idx="minor">
            <a:schemeClr val="tx1"/>
          </a:fontRef>
        </p:style>
      </p:cxnSp>
      <p:sp>
        <p:nvSpPr>
          <p:cNvPr id="11" name="Figura a mano libera: forma 10">
            <a:extLst>
              <a:ext uri="{FF2B5EF4-FFF2-40B4-BE49-F238E27FC236}">
                <a16:creationId xmlns:a16="http://schemas.microsoft.com/office/drawing/2014/main" id="{5D70EFA8-37A4-8C80-FE5E-51C3C6AF40EC}"/>
              </a:ext>
            </a:extLst>
          </p:cNvPr>
          <p:cNvSpPr/>
          <p:nvPr/>
        </p:nvSpPr>
        <p:spPr>
          <a:xfrm>
            <a:off x="1325251" y="2724728"/>
            <a:ext cx="6271491" cy="3380509"/>
          </a:xfrm>
          <a:custGeom>
            <a:avLst/>
            <a:gdLst>
              <a:gd name="connsiteX0" fmla="*/ 0 w 6271491"/>
              <a:gd name="connsiteY0" fmla="*/ 3380509 h 3380509"/>
              <a:gd name="connsiteX1" fmla="*/ 2927927 w 6271491"/>
              <a:gd name="connsiteY1" fmla="*/ 2336800 h 3380509"/>
              <a:gd name="connsiteX2" fmla="*/ 6271491 w 6271491"/>
              <a:gd name="connsiteY2" fmla="*/ 0 h 3380509"/>
            </a:gdLst>
            <a:ahLst/>
            <a:cxnLst>
              <a:cxn ang="0">
                <a:pos x="connsiteX0" y="connsiteY0"/>
              </a:cxn>
              <a:cxn ang="0">
                <a:pos x="connsiteX1" y="connsiteY1"/>
              </a:cxn>
              <a:cxn ang="0">
                <a:pos x="connsiteX2" y="connsiteY2"/>
              </a:cxn>
            </a:cxnLst>
            <a:rect l="l" t="t" r="r" b="b"/>
            <a:pathLst>
              <a:path w="6271491" h="3380509">
                <a:moveTo>
                  <a:pt x="0" y="3380509"/>
                </a:moveTo>
                <a:cubicBezTo>
                  <a:pt x="941339" y="3140363"/>
                  <a:pt x="1882678" y="2900218"/>
                  <a:pt x="2927927" y="2336800"/>
                </a:cubicBezTo>
                <a:cubicBezTo>
                  <a:pt x="3973176" y="1773382"/>
                  <a:pt x="5122333" y="886691"/>
                  <a:pt x="6271491" y="0"/>
                </a:cubicBezTo>
              </a:path>
            </a:pathLst>
          </a:cu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054" name="Picture 6">
            <a:extLst>
              <a:ext uri="{FF2B5EF4-FFF2-40B4-BE49-F238E27FC236}">
                <a16:creationId xmlns:a16="http://schemas.microsoft.com/office/drawing/2014/main" id="{14321D98-EA14-8302-4DA6-849E5A96BF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7745" y="3236434"/>
            <a:ext cx="1925661" cy="385132"/>
          </a:xfrm>
          <a:prstGeom prst="rect">
            <a:avLst/>
          </a:prstGeom>
          <a:noFill/>
          <a:extLst>
            <a:ext uri="{909E8E84-426E-40DD-AFC4-6F175D3DCCD1}">
              <a14:hiddenFill xmlns:a14="http://schemas.microsoft.com/office/drawing/2010/main">
                <a:solidFill>
                  <a:srgbClr val="FFFFFF"/>
                </a:solidFill>
              </a14:hiddenFill>
            </a:ext>
          </a:extLst>
        </p:spPr>
      </p:pic>
      <p:sp>
        <p:nvSpPr>
          <p:cNvPr id="13" name="CasellaDiTesto 12">
            <a:extLst>
              <a:ext uri="{FF2B5EF4-FFF2-40B4-BE49-F238E27FC236}">
                <a16:creationId xmlns:a16="http://schemas.microsoft.com/office/drawing/2014/main" id="{9B561BBC-1669-1738-5FF1-93E9A608D25D}"/>
              </a:ext>
            </a:extLst>
          </p:cNvPr>
          <p:cNvSpPr txBox="1"/>
          <p:nvPr/>
        </p:nvSpPr>
        <p:spPr>
          <a:xfrm>
            <a:off x="9028545" y="2801200"/>
            <a:ext cx="1925661" cy="369332"/>
          </a:xfrm>
          <a:prstGeom prst="rect">
            <a:avLst/>
          </a:prstGeom>
          <a:noFill/>
        </p:spPr>
        <p:txBody>
          <a:bodyPr wrap="square" rtlCol="0">
            <a:spAutoFit/>
          </a:bodyPr>
          <a:lstStyle/>
          <a:p>
            <a:r>
              <a:rPr lang="en-GB" dirty="0">
                <a:solidFill>
                  <a:srgbClr val="004791"/>
                </a:solidFill>
              </a:rPr>
              <a:t>Linear function:</a:t>
            </a:r>
          </a:p>
        </p:txBody>
      </p:sp>
      <p:sp>
        <p:nvSpPr>
          <p:cNvPr id="14" name="CasellaDiTesto 13">
            <a:extLst>
              <a:ext uri="{FF2B5EF4-FFF2-40B4-BE49-F238E27FC236}">
                <a16:creationId xmlns:a16="http://schemas.microsoft.com/office/drawing/2014/main" id="{40B9D5F4-C702-7EF1-16AC-BD6775F8BEDD}"/>
              </a:ext>
            </a:extLst>
          </p:cNvPr>
          <p:cNvSpPr txBox="1"/>
          <p:nvPr/>
        </p:nvSpPr>
        <p:spPr>
          <a:xfrm>
            <a:off x="8894595" y="4108708"/>
            <a:ext cx="2189307" cy="369332"/>
          </a:xfrm>
          <a:prstGeom prst="rect">
            <a:avLst/>
          </a:prstGeom>
          <a:noFill/>
        </p:spPr>
        <p:txBody>
          <a:bodyPr wrap="square" rtlCol="0">
            <a:spAutoFit/>
          </a:bodyPr>
          <a:lstStyle/>
          <a:p>
            <a:r>
              <a:rPr lang="en-GB" dirty="0">
                <a:solidFill>
                  <a:srgbClr val="4DA060"/>
                </a:solidFill>
              </a:rPr>
              <a:t>Quadratic function:</a:t>
            </a:r>
          </a:p>
        </p:txBody>
      </p:sp>
      <p:pic>
        <p:nvPicPr>
          <p:cNvPr id="2056" name="Picture 8">
            <a:extLst>
              <a:ext uri="{FF2B5EF4-FFF2-40B4-BE49-F238E27FC236}">
                <a16:creationId xmlns:a16="http://schemas.microsoft.com/office/drawing/2014/main" id="{7719CE9B-31FD-2387-301C-4B851BAF5D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10744" y="4672003"/>
            <a:ext cx="2879594" cy="447142"/>
          </a:xfrm>
          <a:prstGeom prst="rect">
            <a:avLst/>
          </a:prstGeom>
          <a:noFill/>
          <a:extLst>
            <a:ext uri="{909E8E84-426E-40DD-AFC4-6F175D3DCCD1}">
              <a14:hiddenFill xmlns:a14="http://schemas.microsoft.com/office/drawing/2010/main">
                <a:solidFill>
                  <a:srgbClr val="FFFFFF"/>
                </a:solidFill>
              </a14:hiddenFill>
            </a:ext>
          </a:extLst>
        </p:spPr>
      </p:pic>
      <p:sp>
        <p:nvSpPr>
          <p:cNvPr id="15" name="Rettangolo 14">
            <a:extLst>
              <a:ext uri="{FF2B5EF4-FFF2-40B4-BE49-F238E27FC236}">
                <a16:creationId xmlns:a16="http://schemas.microsoft.com/office/drawing/2014/main" id="{9DFE9C43-B53F-8D96-D0EC-584560378D91}"/>
              </a:ext>
            </a:extLst>
          </p:cNvPr>
          <p:cNvSpPr/>
          <p:nvPr/>
        </p:nvSpPr>
        <p:spPr>
          <a:xfrm>
            <a:off x="8710744" y="2660073"/>
            <a:ext cx="2585617" cy="1182254"/>
          </a:xfrm>
          <a:prstGeom prst="rect">
            <a:avLst/>
          </a:prstGeom>
          <a:no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441229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p:bldP spid="14" grpId="0"/>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84D7624-192B-B20D-DF55-63EE683AFA2F}"/>
              </a:ext>
            </a:extLst>
          </p:cNvPr>
          <p:cNvSpPr>
            <a:spLocks noGrp="1"/>
          </p:cNvSpPr>
          <p:nvPr>
            <p:ph type="title"/>
          </p:nvPr>
        </p:nvSpPr>
        <p:spPr>
          <a:xfrm>
            <a:off x="600075" y="1095632"/>
            <a:ext cx="10990263" cy="568412"/>
          </a:xfrm>
        </p:spPr>
        <p:txBody>
          <a:bodyPr anchor="t">
            <a:normAutofit/>
          </a:bodyPr>
          <a:lstStyle/>
          <a:p>
            <a:r>
              <a:rPr lang="en-GB" sz="3300" dirty="0"/>
              <a:t>NOT TO BE CONFUSED !!	</a:t>
            </a:r>
          </a:p>
        </p:txBody>
      </p:sp>
      <p:pic>
        <p:nvPicPr>
          <p:cNvPr id="9" name="Immagine 8">
            <a:extLst>
              <a:ext uri="{FF2B5EF4-FFF2-40B4-BE49-F238E27FC236}">
                <a16:creationId xmlns:a16="http://schemas.microsoft.com/office/drawing/2014/main" id="{9FEE058C-F473-D7AB-0B55-FC95D54C0511}"/>
              </a:ext>
            </a:extLst>
          </p:cNvPr>
          <p:cNvPicPr>
            <a:picLocks noChangeAspect="1"/>
          </p:cNvPicPr>
          <p:nvPr/>
        </p:nvPicPr>
        <p:blipFill>
          <a:blip r:embed="rId2"/>
          <a:stretch>
            <a:fillRect/>
          </a:stretch>
        </p:blipFill>
        <p:spPr>
          <a:xfrm>
            <a:off x="600074" y="2518589"/>
            <a:ext cx="5314950" cy="3667315"/>
          </a:xfrm>
          <a:prstGeom prst="rect">
            <a:avLst/>
          </a:prstGeom>
          <a:noFill/>
        </p:spPr>
      </p:pic>
      <p:grpSp>
        <p:nvGrpSpPr>
          <p:cNvPr id="7" name="Gruppo 6">
            <a:extLst>
              <a:ext uri="{FF2B5EF4-FFF2-40B4-BE49-F238E27FC236}">
                <a16:creationId xmlns:a16="http://schemas.microsoft.com/office/drawing/2014/main" id="{C044818A-5C7B-CF4D-CCDF-122D55F8505F}"/>
              </a:ext>
            </a:extLst>
          </p:cNvPr>
          <p:cNvGrpSpPr/>
          <p:nvPr/>
        </p:nvGrpSpPr>
        <p:grpSpPr>
          <a:xfrm>
            <a:off x="6276978" y="2607645"/>
            <a:ext cx="5502868" cy="3489202"/>
            <a:chOff x="461530" y="2161149"/>
            <a:chExt cx="7310703" cy="4534486"/>
          </a:xfrm>
        </p:grpSpPr>
        <p:pic>
          <p:nvPicPr>
            <p:cNvPr id="4" name="Picture 4">
              <a:extLst>
                <a:ext uri="{FF2B5EF4-FFF2-40B4-BE49-F238E27FC236}">
                  <a16:creationId xmlns:a16="http://schemas.microsoft.com/office/drawing/2014/main" id="{0D1E7BF1-A39D-4033-2A89-1C3BC8594C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530" y="2161149"/>
              <a:ext cx="7310703" cy="4534486"/>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nettore diritto 4">
              <a:extLst>
                <a:ext uri="{FF2B5EF4-FFF2-40B4-BE49-F238E27FC236}">
                  <a16:creationId xmlns:a16="http://schemas.microsoft.com/office/drawing/2014/main" id="{F313BDCD-84E9-6D66-EE7C-1AC16E095633}"/>
                </a:ext>
              </a:extLst>
            </p:cNvPr>
            <p:cNvCxnSpPr>
              <a:cxnSpLocks/>
            </p:cNvCxnSpPr>
            <p:nvPr/>
          </p:nvCxnSpPr>
          <p:spPr>
            <a:xfrm flipV="1">
              <a:off x="1186706" y="3094181"/>
              <a:ext cx="6446982" cy="2983346"/>
            </a:xfrm>
            <a:prstGeom prst="line">
              <a:avLst/>
            </a:prstGeom>
            <a:ln w="38100">
              <a:solidFill>
                <a:srgbClr val="004791"/>
              </a:solidFill>
            </a:ln>
          </p:spPr>
          <p:style>
            <a:lnRef idx="1">
              <a:schemeClr val="accent1"/>
            </a:lnRef>
            <a:fillRef idx="0">
              <a:schemeClr val="accent1"/>
            </a:fillRef>
            <a:effectRef idx="0">
              <a:schemeClr val="accent1"/>
            </a:effectRef>
            <a:fontRef idx="minor">
              <a:schemeClr val="tx1"/>
            </a:fontRef>
          </p:style>
        </p:cxnSp>
        <p:sp>
          <p:nvSpPr>
            <p:cNvPr id="6" name="Figura a mano libera: forma 5">
              <a:extLst>
                <a:ext uri="{FF2B5EF4-FFF2-40B4-BE49-F238E27FC236}">
                  <a16:creationId xmlns:a16="http://schemas.microsoft.com/office/drawing/2014/main" id="{071F7BCE-07FC-9ACE-8497-6878BACD8F81}"/>
                </a:ext>
              </a:extLst>
            </p:cNvPr>
            <p:cNvSpPr/>
            <p:nvPr/>
          </p:nvSpPr>
          <p:spPr>
            <a:xfrm>
              <a:off x="1186706" y="2697018"/>
              <a:ext cx="6271491" cy="3380509"/>
            </a:xfrm>
            <a:custGeom>
              <a:avLst/>
              <a:gdLst>
                <a:gd name="connsiteX0" fmla="*/ 0 w 6271491"/>
                <a:gd name="connsiteY0" fmla="*/ 3380509 h 3380509"/>
                <a:gd name="connsiteX1" fmla="*/ 2927927 w 6271491"/>
                <a:gd name="connsiteY1" fmla="*/ 2336800 h 3380509"/>
                <a:gd name="connsiteX2" fmla="*/ 6271491 w 6271491"/>
                <a:gd name="connsiteY2" fmla="*/ 0 h 3380509"/>
              </a:gdLst>
              <a:ahLst/>
              <a:cxnLst>
                <a:cxn ang="0">
                  <a:pos x="connsiteX0" y="connsiteY0"/>
                </a:cxn>
                <a:cxn ang="0">
                  <a:pos x="connsiteX1" y="connsiteY1"/>
                </a:cxn>
                <a:cxn ang="0">
                  <a:pos x="connsiteX2" y="connsiteY2"/>
                </a:cxn>
              </a:cxnLst>
              <a:rect l="l" t="t" r="r" b="b"/>
              <a:pathLst>
                <a:path w="6271491" h="3380509">
                  <a:moveTo>
                    <a:pt x="0" y="3380509"/>
                  </a:moveTo>
                  <a:cubicBezTo>
                    <a:pt x="941339" y="3140363"/>
                    <a:pt x="1882678" y="2900218"/>
                    <a:pt x="2927927" y="2336800"/>
                  </a:cubicBezTo>
                  <a:cubicBezTo>
                    <a:pt x="3973176" y="1773382"/>
                    <a:pt x="5122333" y="886691"/>
                    <a:pt x="6271491" y="0"/>
                  </a:cubicBezTo>
                </a:path>
              </a:pathLst>
            </a:cu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0" name="CasellaDiTesto 9">
            <a:extLst>
              <a:ext uri="{FF2B5EF4-FFF2-40B4-BE49-F238E27FC236}">
                <a16:creationId xmlns:a16="http://schemas.microsoft.com/office/drawing/2014/main" id="{C8C67937-CB93-61A6-7F90-2D00AAE33DA1}"/>
              </a:ext>
            </a:extLst>
          </p:cNvPr>
          <p:cNvSpPr txBox="1"/>
          <p:nvPr/>
        </p:nvSpPr>
        <p:spPr>
          <a:xfrm>
            <a:off x="2823586" y="1994054"/>
            <a:ext cx="3828422" cy="369332"/>
          </a:xfrm>
          <a:prstGeom prst="rect">
            <a:avLst/>
          </a:prstGeom>
          <a:noFill/>
        </p:spPr>
        <p:txBody>
          <a:bodyPr wrap="square" rtlCol="0">
            <a:spAutoFit/>
          </a:bodyPr>
          <a:lstStyle/>
          <a:p>
            <a:r>
              <a:rPr lang="en-GB" b="1" dirty="0"/>
              <a:t>Parity plot</a:t>
            </a:r>
          </a:p>
        </p:txBody>
      </p:sp>
      <p:sp>
        <p:nvSpPr>
          <p:cNvPr id="11" name="CasellaDiTesto 10">
            <a:extLst>
              <a:ext uri="{FF2B5EF4-FFF2-40B4-BE49-F238E27FC236}">
                <a16:creationId xmlns:a16="http://schemas.microsoft.com/office/drawing/2014/main" id="{31BEF357-FB5F-8210-569B-E510B1615278}"/>
              </a:ext>
            </a:extLst>
          </p:cNvPr>
          <p:cNvSpPr txBox="1"/>
          <p:nvPr/>
        </p:nvSpPr>
        <p:spPr>
          <a:xfrm>
            <a:off x="8683456" y="2058596"/>
            <a:ext cx="3828422" cy="369332"/>
          </a:xfrm>
          <a:prstGeom prst="rect">
            <a:avLst/>
          </a:prstGeom>
          <a:noFill/>
        </p:spPr>
        <p:txBody>
          <a:bodyPr wrap="square" rtlCol="0">
            <a:spAutoFit/>
          </a:bodyPr>
          <a:lstStyle/>
          <a:p>
            <a:r>
              <a:rPr lang="en-GB" b="1" dirty="0"/>
              <a:t>Regression</a:t>
            </a:r>
          </a:p>
        </p:txBody>
      </p:sp>
    </p:spTree>
    <p:extLst>
      <p:ext uri="{BB962C8B-B14F-4D97-AF65-F5344CB8AC3E}">
        <p14:creationId xmlns:p14="http://schemas.microsoft.com/office/powerpoint/2010/main" val="2914742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D74A111-2E82-40BB-093B-C6FEBAFBAF30}"/>
              </a:ext>
            </a:extLst>
          </p:cNvPr>
          <p:cNvSpPr>
            <a:spLocks noGrp="1"/>
          </p:cNvSpPr>
          <p:nvPr>
            <p:ph type="title"/>
          </p:nvPr>
        </p:nvSpPr>
        <p:spPr/>
        <p:txBody>
          <a:bodyPr/>
          <a:lstStyle/>
          <a:p>
            <a:r>
              <a:rPr lang="en-GB" dirty="0"/>
              <a:t>Linear regression: cost function</a:t>
            </a:r>
          </a:p>
        </p:txBody>
      </p:sp>
      <p:sp>
        <p:nvSpPr>
          <p:cNvPr id="3" name="Segnaposto contenuto 2">
            <a:extLst>
              <a:ext uri="{FF2B5EF4-FFF2-40B4-BE49-F238E27FC236}">
                <a16:creationId xmlns:a16="http://schemas.microsoft.com/office/drawing/2014/main" id="{3EFB05E7-CF3A-E178-E3E3-AC2348CC66C3}"/>
              </a:ext>
            </a:extLst>
          </p:cNvPr>
          <p:cNvSpPr>
            <a:spLocks noGrp="1"/>
          </p:cNvSpPr>
          <p:nvPr>
            <p:ph idx="1"/>
          </p:nvPr>
        </p:nvSpPr>
        <p:spPr/>
        <p:txBody>
          <a:bodyPr/>
          <a:lstStyle/>
          <a:p>
            <a:pPr>
              <a:buFont typeface="Wingdings" panose="05000000000000000000" pitchFamily="2" charset="2"/>
              <a:buChar char="Ø"/>
            </a:pPr>
            <a:r>
              <a:rPr lang="en-GB" dirty="0"/>
              <a:t>The goal is to identify the parameters (</a:t>
            </a:r>
            <a:r>
              <a:rPr lang="en-GB" b="1" dirty="0" err="1"/>
              <a:t>m,q</a:t>
            </a:r>
            <a:r>
              <a:rPr lang="en-GB" dirty="0"/>
              <a:t>) that best explain the data.</a:t>
            </a:r>
          </a:p>
        </p:txBody>
      </p:sp>
      <p:pic>
        <p:nvPicPr>
          <p:cNvPr id="5" name="Immagine 4">
            <a:extLst>
              <a:ext uri="{FF2B5EF4-FFF2-40B4-BE49-F238E27FC236}">
                <a16:creationId xmlns:a16="http://schemas.microsoft.com/office/drawing/2014/main" id="{455C44CD-841B-C0E9-6D8C-F02C422C64E4}"/>
              </a:ext>
            </a:extLst>
          </p:cNvPr>
          <p:cNvPicPr>
            <a:picLocks noChangeAspect="1"/>
          </p:cNvPicPr>
          <p:nvPr/>
        </p:nvPicPr>
        <p:blipFill>
          <a:blip r:embed="rId2"/>
          <a:srcRect t="4317"/>
          <a:stretch>
            <a:fillRect/>
          </a:stretch>
        </p:blipFill>
        <p:spPr>
          <a:xfrm>
            <a:off x="110548" y="2429164"/>
            <a:ext cx="7483488" cy="4280210"/>
          </a:xfrm>
          <a:prstGeom prst="rect">
            <a:avLst/>
          </a:prstGeom>
        </p:spPr>
      </p:pic>
      <p:pic>
        <p:nvPicPr>
          <p:cNvPr id="3074" name="Picture 2">
            <a:extLst>
              <a:ext uri="{FF2B5EF4-FFF2-40B4-BE49-F238E27FC236}">
                <a16:creationId xmlns:a16="http://schemas.microsoft.com/office/drawing/2014/main" id="{2C0206F6-04C8-C1E5-AE0E-BAC295ABA1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6821" y="2697019"/>
            <a:ext cx="4207324" cy="49562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B7D0AAFA-29EB-F7E8-BB4C-FCE0C3FB903A}"/>
              </a:ext>
            </a:extLst>
          </p:cNvPr>
          <p:cNvSpPr txBox="1"/>
          <p:nvPr/>
        </p:nvSpPr>
        <p:spPr>
          <a:xfrm>
            <a:off x="8706770" y="3429000"/>
            <a:ext cx="2295397" cy="369332"/>
          </a:xfrm>
          <a:prstGeom prst="rect">
            <a:avLst/>
          </a:prstGeom>
          <a:noFill/>
          <a:ln>
            <a:solidFill>
              <a:schemeClr val="tx1"/>
            </a:solidFill>
          </a:ln>
        </p:spPr>
        <p:txBody>
          <a:bodyPr wrap="square" rtlCol="0">
            <a:spAutoFit/>
          </a:bodyPr>
          <a:lstStyle/>
          <a:p>
            <a:r>
              <a:rPr lang="en-GB" dirty="0"/>
              <a:t>Minimizing the cost</a:t>
            </a:r>
          </a:p>
        </p:txBody>
      </p:sp>
      <p:sp>
        <p:nvSpPr>
          <p:cNvPr id="7" name="Freccia in giù 6">
            <a:extLst>
              <a:ext uri="{FF2B5EF4-FFF2-40B4-BE49-F238E27FC236}">
                <a16:creationId xmlns:a16="http://schemas.microsoft.com/office/drawing/2014/main" id="{FC84CEE2-9117-7297-4427-4CC292ECF30D}"/>
              </a:ext>
            </a:extLst>
          </p:cNvPr>
          <p:cNvSpPr/>
          <p:nvPr/>
        </p:nvSpPr>
        <p:spPr>
          <a:xfrm>
            <a:off x="9651270" y="3954654"/>
            <a:ext cx="406400" cy="766618"/>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CasellaDiTesto 7">
            <a:extLst>
              <a:ext uri="{FF2B5EF4-FFF2-40B4-BE49-F238E27FC236}">
                <a16:creationId xmlns:a16="http://schemas.microsoft.com/office/drawing/2014/main" id="{99145594-E833-7896-856D-54DABBC86E66}"/>
              </a:ext>
            </a:extLst>
          </p:cNvPr>
          <p:cNvSpPr txBox="1"/>
          <p:nvPr/>
        </p:nvSpPr>
        <p:spPr>
          <a:xfrm>
            <a:off x="8395692" y="4936696"/>
            <a:ext cx="2917554" cy="369332"/>
          </a:xfrm>
          <a:prstGeom prst="rect">
            <a:avLst/>
          </a:prstGeom>
          <a:noFill/>
          <a:ln>
            <a:solidFill>
              <a:schemeClr val="tx1"/>
            </a:solidFill>
          </a:ln>
        </p:spPr>
        <p:txBody>
          <a:bodyPr wrap="square" rtlCol="0">
            <a:spAutoFit/>
          </a:bodyPr>
          <a:lstStyle/>
          <a:p>
            <a:r>
              <a:rPr lang="en-GB" dirty="0"/>
              <a:t>Optimal parameters (</a:t>
            </a:r>
            <a:r>
              <a:rPr lang="en-GB" dirty="0" err="1"/>
              <a:t>m,q</a:t>
            </a:r>
            <a:r>
              <a:rPr lang="en-GB" dirty="0"/>
              <a:t>)</a:t>
            </a:r>
          </a:p>
        </p:txBody>
      </p:sp>
      <p:sp>
        <p:nvSpPr>
          <p:cNvPr id="9" name="CasellaDiTesto 8">
            <a:extLst>
              <a:ext uri="{FF2B5EF4-FFF2-40B4-BE49-F238E27FC236}">
                <a16:creationId xmlns:a16="http://schemas.microsoft.com/office/drawing/2014/main" id="{501B9933-E39F-5EFC-C7A9-905750D86EF9}"/>
              </a:ext>
            </a:extLst>
          </p:cNvPr>
          <p:cNvSpPr txBox="1"/>
          <p:nvPr/>
        </p:nvSpPr>
        <p:spPr>
          <a:xfrm>
            <a:off x="9948697" y="3962343"/>
            <a:ext cx="1197000" cy="646331"/>
          </a:xfrm>
          <a:prstGeom prst="rect">
            <a:avLst/>
          </a:prstGeom>
          <a:noFill/>
          <a:ln>
            <a:noFill/>
          </a:ln>
        </p:spPr>
        <p:txBody>
          <a:bodyPr wrap="square" rtlCol="0">
            <a:spAutoFit/>
          </a:bodyPr>
          <a:lstStyle/>
          <a:p>
            <a:r>
              <a:rPr lang="en-GB" dirty="0"/>
              <a:t>Gradient descent</a:t>
            </a:r>
          </a:p>
        </p:txBody>
      </p:sp>
      <p:sp>
        <p:nvSpPr>
          <p:cNvPr id="11" name="CasellaDiTesto 10">
            <a:extLst>
              <a:ext uri="{FF2B5EF4-FFF2-40B4-BE49-F238E27FC236}">
                <a16:creationId xmlns:a16="http://schemas.microsoft.com/office/drawing/2014/main" id="{88DA83C0-EA76-10A7-6C3E-06BCC3C7404C}"/>
              </a:ext>
            </a:extLst>
          </p:cNvPr>
          <p:cNvSpPr txBox="1"/>
          <p:nvPr/>
        </p:nvSpPr>
        <p:spPr>
          <a:xfrm>
            <a:off x="7832436" y="6031187"/>
            <a:ext cx="1357746" cy="369332"/>
          </a:xfrm>
          <a:prstGeom prst="rect">
            <a:avLst/>
          </a:prstGeom>
          <a:noFill/>
        </p:spPr>
        <p:txBody>
          <a:bodyPr wrap="square">
            <a:spAutoFit/>
          </a:bodyPr>
          <a:lstStyle/>
          <a:p>
            <a:r>
              <a:rPr lang="en-GB" dirty="0">
                <a:hlinkClick r:id="rId4"/>
              </a:rPr>
              <a:t>Tutorial 2</a:t>
            </a:r>
            <a:endParaRPr lang="en-GB" dirty="0"/>
          </a:p>
        </p:txBody>
      </p:sp>
      <p:pic>
        <p:nvPicPr>
          <p:cNvPr id="12" name="Immagine 11">
            <a:extLst>
              <a:ext uri="{FF2B5EF4-FFF2-40B4-BE49-F238E27FC236}">
                <a16:creationId xmlns:a16="http://schemas.microsoft.com/office/drawing/2014/main" id="{1E3183E8-77CD-48F4-E4B2-121DA8190D20}"/>
              </a:ext>
            </a:extLst>
          </p:cNvPr>
          <p:cNvPicPr>
            <a:picLocks noChangeAspect="1"/>
          </p:cNvPicPr>
          <p:nvPr/>
        </p:nvPicPr>
        <p:blipFill>
          <a:blip r:embed="rId5"/>
          <a:srcRect/>
          <a:stretch/>
        </p:blipFill>
        <p:spPr>
          <a:xfrm>
            <a:off x="9081910" y="5490688"/>
            <a:ext cx="1308349" cy="1308349"/>
          </a:xfrm>
          <a:prstGeom prst="rect">
            <a:avLst/>
          </a:prstGeom>
        </p:spPr>
      </p:pic>
      <p:pic>
        <p:nvPicPr>
          <p:cNvPr id="14" name="Immagine 13">
            <a:extLst>
              <a:ext uri="{FF2B5EF4-FFF2-40B4-BE49-F238E27FC236}">
                <a16:creationId xmlns:a16="http://schemas.microsoft.com/office/drawing/2014/main" id="{BC8CA30E-3637-6964-4258-E3880D3020B2}"/>
              </a:ext>
            </a:extLst>
          </p:cNvPr>
          <p:cNvPicPr>
            <a:picLocks noChangeAspect="1"/>
          </p:cNvPicPr>
          <p:nvPr/>
        </p:nvPicPr>
        <p:blipFill>
          <a:blip r:embed="rId6"/>
          <a:stretch>
            <a:fillRect/>
          </a:stretch>
        </p:blipFill>
        <p:spPr>
          <a:xfrm>
            <a:off x="8335220" y="108194"/>
            <a:ext cx="2632100" cy="2484881"/>
          </a:xfrm>
          <a:prstGeom prst="rect">
            <a:avLst/>
          </a:prstGeom>
        </p:spPr>
      </p:pic>
    </p:spTree>
    <p:extLst>
      <p:ext uri="{BB962C8B-B14F-4D97-AF65-F5344CB8AC3E}">
        <p14:creationId xmlns:p14="http://schemas.microsoft.com/office/powerpoint/2010/main" val="875161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46B7D-E0E5-0022-028D-51D2C05FBA2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1D64B31-7C6D-9F06-509E-2965D8715C54}"/>
              </a:ext>
            </a:extLst>
          </p:cNvPr>
          <p:cNvSpPr>
            <a:spLocks noGrp="1"/>
          </p:cNvSpPr>
          <p:nvPr>
            <p:ph type="title"/>
          </p:nvPr>
        </p:nvSpPr>
        <p:spPr>
          <a:xfrm>
            <a:off x="600868" y="2203215"/>
            <a:ext cx="10990263" cy="568412"/>
          </a:xfrm>
        </p:spPr>
        <p:txBody>
          <a:bodyPr/>
          <a:lstStyle/>
          <a:p>
            <a:pPr algn="ctr"/>
            <a:r>
              <a:rPr lang="en-GB" dirty="0"/>
              <a:t>MODULE 3</a:t>
            </a:r>
            <a:br>
              <a:rPr lang="en-GB" dirty="0"/>
            </a:br>
            <a:br>
              <a:rPr lang="en-GB" dirty="0"/>
            </a:br>
            <a:r>
              <a:rPr lang="en-GB" dirty="0"/>
              <a:t>CASE STUDY:</a:t>
            </a:r>
            <a:br>
              <a:rPr lang="en-GB" dirty="0"/>
            </a:br>
            <a:r>
              <a:rPr lang="en-GB" dirty="0"/>
              <a:t>Neural network model of a</a:t>
            </a:r>
            <a:br>
              <a:rPr lang="en-GB" dirty="0"/>
            </a:br>
            <a:r>
              <a:rPr lang="en-GB" dirty="0"/>
              <a:t>reverberation time in a shoebox</a:t>
            </a:r>
          </a:p>
        </p:txBody>
      </p:sp>
    </p:spTree>
    <p:extLst>
      <p:ext uri="{BB962C8B-B14F-4D97-AF65-F5344CB8AC3E}">
        <p14:creationId xmlns:p14="http://schemas.microsoft.com/office/powerpoint/2010/main" val="2094432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277573F-C498-092B-CA3F-D8616912CC01}"/>
              </a:ext>
            </a:extLst>
          </p:cNvPr>
          <p:cNvSpPr>
            <a:spLocks noGrp="1"/>
          </p:cNvSpPr>
          <p:nvPr>
            <p:ph type="title"/>
          </p:nvPr>
        </p:nvSpPr>
        <p:spPr/>
        <p:txBody>
          <a:bodyPr/>
          <a:lstStyle/>
          <a:p>
            <a:r>
              <a:rPr lang="en-GB" dirty="0"/>
              <a:t>Case study: acoustic reverberation time</a:t>
            </a:r>
          </a:p>
        </p:txBody>
      </p:sp>
      <p:sp>
        <p:nvSpPr>
          <p:cNvPr id="3" name="Segnaposto contenuto 2">
            <a:extLst>
              <a:ext uri="{FF2B5EF4-FFF2-40B4-BE49-F238E27FC236}">
                <a16:creationId xmlns:a16="http://schemas.microsoft.com/office/drawing/2014/main" id="{AE787014-E88A-92D5-A474-37B735656C20}"/>
              </a:ext>
            </a:extLst>
          </p:cNvPr>
          <p:cNvSpPr>
            <a:spLocks noGrp="1"/>
          </p:cNvSpPr>
          <p:nvPr>
            <p:ph idx="1"/>
          </p:nvPr>
        </p:nvSpPr>
        <p:spPr/>
        <p:txBody>
          <a:bodyPr/>
          <a:lstStyle/>
          <a:p>
            <a:pPr marL="0" indent="0">
              <a:buNone/>
            </a:pPr>
            <a:r>
              <a:rPr lang="en-GB" dirty="0"/>
              <a:t>We will use a neural network to determine the </a:t>
            </a:r>
            <a:r>
              <a:rPr lang="en-GB" b="1" dirty="0"/>
              <a:t>reverberation time</a:t>
            </a:r>
            <a:r>
              <a:rPr lang="en-GB" dirty="0"/>
              <a:t> of a shoebox, given the position of an </a:t>
            </a:r>
            <a:r>
              <a:rPr lang="en-GB" b="1" dirty="0"/>
              <a:t>acoustic absorption panel</a:t>
            </a:r>
            <a:r>
              <a:rPr lang="en-GB" dirty="0"/>
              <a:t>.</a:t>
            </a:r>
          </a:p>
          <a:p>
            <a:pPr>
              <a:buFont typeface="Wingdings" panose="05000000000000000000" pitchFamily="2" charset="2"/>
              <a:buChar char="Ø"/>
            </a:pPr>
            <a:r>
              <a:rPr lang="en-GB" dirty="0"/>
              <a:t>Input: </a:t>
            </a:r>
            <a:r>
              <a:rPr lang="en-GB" b="1" dirty="0"/>
              <a:t>position</a:t>
            </a:r>
            <a:r>
              <a:rPr lang="en-GB" dirty="0"/>
              <a:t> (</a:t>
            </a:r>
            <a:r>
              <a:rPr lang="en-GB" dirty="0" err="1"/>
              <a:t>x,y</a:t>
            </a:r>
            <a:r>
              <a:rPr lang="en-GB" dirty="0"/>
              <a:t>) of the acoustic absorption panel; room geometry (implicit!).</a:t>
            </a:r>
          </a:p>
          <a:p>
            <a:pPr>
              <a:buFont typeface="Wingdings" panose="05000000000000000000" pitchFamily="2" charset="2"/>
              <a:buChar char="Ø"/>
            </a:pPr>
            <a:r>
              <a:rPr lang="en-GB" dirty="0"/>
              <a:t>Output: </a:t>
            </a:r>
            <a:r>
              <a:rPr lang="en-GB" b="1" dirty="0"/>
              <a:t>reverberation time</a:t>
            </a:r>
            <a:r>
              <a:rPr lang="en-GB" dirty="0"/>
              <a:t> at 500 Hz.</a:t>
            </a:r>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a:buFont typeface="Wingdings" panose="05000000000000000000" pitchFamily="2" charset="2"/>
              <a:buChar char="Ø"/>
            </a:pPr>
            <a:r>
              <a:rPr lang="en-GB" dirty="0"/>
              <a:t>We will use a </a:t>
            </a:r>
            <a:r>
              <a:rPr lang="en-GB" b="1" dirty="0"/>
              <a:t>Neural Network</a:t>
            </a:r>
            <a:r>
              <a:rPr lang="en-GB" dirty="0"/>
              <a:t> to solve this problem!</a:t>
            </a:r>
          </a:p>
          <a:p>
            <a:pPr marL="0" indent="0">
              <a:buNone/>
            </a:pPr>
            <a:endParaRPr lang="en-GB" dirty="0"/>
          </a:p>
        </p:txBody>
      </p:sp>
      <p:sp>
        <p:nvSpPr>
          <p:cNvPr id="4" name="AutoShape 2" descr="Recognizing handwritten digits efficiently – Raúl Balanzá">
            <a:extLst>
              <a:ext uri="{FF2B5EF4-FFF2-40B4-BE49-F238E27FC236}">
                <a16:creationId xmlns:a16="http://schemas.microsoft.com/office/drawing/2014/main" id="{E3C9448B-DF83-BE1C-9ADB-029854058B5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6" name="Immagine 5" descr="Immagine che contiene testo, grafica, schermata, Elementi grafici&#10;&#10;Il contenuto generato dall'IA potrebbe non essere corretto.">
            <a:extLst>
              <a:ext uri="{FF2B5EF4-FFF2-40B4-BE49-F238E27FC236}">
                <a16:creationId xmlns:a16="http://schemas.microsoft.com/office/drawing/2014/main" id="{9F58B89A-F2F7-DB5D-2D36-35DC622F98BF}"/>
              </a:ext>
            </a:extLst>
          </p:cNvPr>
          <p:cNvPicPr>
            <a:picLocks noChangeAspect="1"/>
          </p:cNvPicPr>
          <p:nvPr/>
        </p:nvPicPr>
        <p:blipFill>
          <a:blip r:embed="rId2"/>
          <a:stretch>
            <a:fillRect/>
          </a:stretch>
        </p:blipFill>
        <p:spPr>
          <a:xfrm rot="18674801">
            <a:off x="1898825" y="878923"/>
            <a:ext cx="10962736" cy="6364157"/>
          </a:xfrm>
          <a:prstGeom prst="rect">
            <a:avLst/>
          </a:prstGeom>
        </p:spPr>
      </p:pic>
      <p:sp>
        <p:nvSpPr>
          <p:cNvPr id="7" name="Ovale 6">
            <a:extLst>
              <a:ext uri="{FF2B5EF4-FFF2-40B4-BE49-F238E27FC236}">
                <a16:creationId xmlns:a16="http://schemas.microsoft.com/office/drawing/2014/main" id="{64DCDC3C-9FC9-CCF7-2986-6F9F3BF94236}"/>
              </a:ext>
            </a:extLst>
          </p:cNvPr>
          <p:cNvSpPr/>
          <p:nvPr/>
        </p:nvSpPr>
        <p:spPr>
          <a:xfrm>
            <a:off x="7574280" y="3710539"/>
            <a:ext cx="243840" cy="19656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Ovale 7">
            <a:extLst>
              <a:ext uri="{FF2B5EF4-FFF2-40B4-BE49-F238E27FC236}">
                <a16:creationId xmlns:a16="http://schemas.microsoft.com/office/drawing/2014/main" id="{E6DB5C23-1F77-1B85-8644-E98941D4510F}"/>
              </a:ext>
            </a:extLst>
          </p:cNvPr>
          <p:cNvSpPr/>
          <p:nvPr/>
        </p:nvSpPr>
        <p:spPr>
          <a:xfrm>
            <a:off x="7136353" y="4365859"/>
            <a:ext cx="243840" cy="196568"/>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184691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074F47C-FD25-BDE2-B1FE-8898A3D85591}"/>
              </a:ext>
            </a:extLst>
          </p:cNvPr>
          <p:cNvSpPr>
            <a:spLocks noGrp="1"/>
          </p:cNvSpPr>
          <p:nvPr>
            <p:ph type="title"/>
          </p:nvPr>
        </p:nvSpPr>
        <p:spPr/>
        <p:txBody>
          <a:bodyPr/>
          <a:lstStyle/>
          <a:p>
            <a:r>
              <a:rPr lang="en-GB" dirty="0"/>
              <a:t>Surrogate models</a:t>
            </a:r>
          </a:p>
        </p:txBody>
      </p:sp>
      <p:sp>
        <p:nvSpPr>
          <p:cNvPr id="3" name="Segnaposto contenuto 2">
            <a:extLst>
              <a:ext uri="{FF2B5EF4-FFF2-40B4-BE49-F238E27FC236}">
                <a16:creationId xmlns:a16="http://schemas.microsoft.com/office/drawing/2014/main" id="{6C1947A4-C0A6-C3D0-DBBB-EDA6979C5DEF}"/>
              </a:ext>
            </a:extLst>
          </p:cNvPr>
          <p:cNvSpPr>
            <a:spLocks noGrp="1"/>
          </p:cNvSpPr>
          <p:nvPr>
            <p:ph idx="1"/>
          </p:nvPr>
        </p:nvSpPr>
        <p:spPr/>
        <p:txBody>
          <a:bodyPr/>
          <a:lstStyle/>
          <a:p>
            <a:pPr>
              <a:buFont typeface="Wingdings" panose="05000000000000000000" pitchFamily="2" charset="2"/>
              <a:buChar char="Ø"/>
            </a:pPr>
            <a:r>
              <a:rPr lang="en-GB" dirty="0"/>
              <a:t>The main idea is to </a:t>
            </a:r>
            <a:r>
              <a:rPr lang="en-GB" b="1" dirty="0"/>
              <a:t>replace</a:t>
            </a:r>
            <a:r>
              <a:rPr lang="en-GB" dirty="0"/>
              <a:t> Pachyderm with a </a:t>
            </a:r>
            <a:r>
              <a:rPr lang="en-GB" b="1" dirty="0"/>
              <a:t>surrogate</a:t>
            </a:r>
            <a:r>
              <a:rPr lang="en-GB" dirty="0"/>
              <a:t> (the neural network):</a:t>
            </a:r>
          </a:p>
          <a:p>
            <a:pPr>
              <a:buFont typeface="Wingdings" panose="05000000000000000000" pitchFamily="2" charset="2"/>
              <a:buChar char="Ø"/>
            </a:pPr>
            <a:r>
              <a:rPr lang="en-GB" dirty="0"/>
              <a:t>Once trained the neural network can replicate Pachyderm’s results in a fraction of a second!</a:t>
            </a:r>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a:buFont typeface="Wingdings" panose="05000000000000000000" pitchFamily="2" charset="2"/>
              <a:buChar char="Ø"/>
            </a:pPr>
            <a:r>
              <a:rPr lang="en-GB" dirty="0"/>
              <a:t>The neural network is solving a regression problem (yields reverberation time by moving the panel)</a:t>
            </a:r>
          </a:p>
          <a:p>
            <a:pPr>
              <a:buFont typeface="Wingdings" panose="05000000000000000000" pitchFamily="2" charset="2"/>
              <a:buChar char="Ø"/>
            </a:pPr>
            <a:endParaRPr lang="en-GB" dirty="0"/>
          </a:p>
          <a:p>
            <a:pPr marL="0" indent="0">
              <a:buNone/>
            </a:pPr>
            <a:r>
              <a:rPr lang="en-GB" dirty="0"/>
              <a:t> </a:t>
            </a:r>
          </a:p>
        </p:txBody>
      </p:sp>
      <p:sp>
        <p:nvSpPr>
          <p:cNvPr id="4" name="CasellaDiTesto 3">
            <a:extLst>
              <a:ext uri="{FF2B5EF4-FFF2-40B4-BE49-F238E27FC236}">
                <a16:creationId xmlns:a16="http://schemas.microsoft.com/office/drawing/2014/main" id="{9F442A52-A6CE-6CE1-CFBC-CF97777EDDF0}"/>
              </a:ext>
            </a:extLst>
          </p:cNvPr>
          <p:cNvSpPr txBox="1"/>
          <p:nvPr/>
        </p:nvSpPr>
        <p:spPr>
          <a:xfrm>
            <a:off x="1754911" y="2946401"/>
            <a:ext cx="2142836" cy="646331"/>
          </a:xfrm>
          <a:prstGeom prst="rect">
            <a:avLst/>
          </a:prstGeom>
          <a:noFill/>
          <a:ln w="12700">
            <a:solidFill>
              <a:schemeClr val="tx1"/>
            </a:solidFill>
          </a:ln>
        </p:spPr>
        <p:txBody>
          <a:bodyPr wrap="square" rtlCol="0">
            <a:spAutoFit/>
          </a:bodyPr>
          <a:lstStyle/>
          <a:p>
            <a:pPr algn="ctr"/>
            <a:r>
              <a:rPr lang="en-GB" b="1" dirty="0"/>
              <a:t>INPUT</a:t>
            </a:r>
          </a:p>
          <a:p>
            <a:pPr algn="ctr"/>
            <a:r>
              <a:rPr lang="en-GB" dirty="0"/>
              <a:t>Panel position (</a:t>
            </a:r>
            <a:r>
              <a:rPr lang="en-GB" dirty="0" err="1"/>
              <a:t>x,y</a:t>
            </a:r>
            <a:r>
              <a:rPr lang="en-GB" dirty="0"/>
              <a:t>)</a:t>
            </a:r>
          </a:p>
        </p:txBody>
      </p:sp>
      <p:grpSp>
        <p:nvGrpSpPr>
          <p:cNvPr id="10" name="Gruppo 9">
            <a:extLst>
              <a:ext uri="{FF2B5EF4-FFF2-40B4-BE49-F238E27FC236}">
                <a16:creationId xmlns:a16="http://schemas.microsoft.com/office/drawing/2014/main" id="{BCA0F351-41BC-A7DC-E86E-AC3F6A4EBA1C}"/>
              </a:ext>
            </a:extLst>
          </p:cNvPr>
          <p:cNvGrpSpPr/>
          <p:nvPr/>
        </p:nvGrpSpPr>
        <p:grpSpPr>
          <a:xfrm>
            <a:off x="4867563" y="4061001"/>
            <a:ext cx="831273" cy="794328"/>
            <a:chOff x="4876800" y="2872402"/>
            <a:chExt cx="831273" cy="794328"/>
          </a:xfrm>
        </p:grpSpPr>
        <p:sp>
          <p:nvSpPr>
            <p:cNvPr id="5" name="Ovale 4">
              <a:extLst>
                <a:ext uri="{FF2B5EF4-FFF2-40B4-BE49-F238E27FC236}">
                  <a16:creationId xmlns:a16="http://schemas.microsoft.com/office/drawing/2014/main" id="{871EE2E3-9CF7-F131-FE7A-30926C1AAC35}"/>
                </a:ext>
              </a:extLst>
            </p:cNvPr>
            <p:cNvSpPr/>
            <p:nvPr/>
          </p:nvSpPr>
          <p:spPr>
            <a:xfrm>
              <a:off x="4876800" y="2872402"/>
              <a:ext cx="831273" cy="794328"/>
            </a:xfrm>
            <a:prstGeom prst="ellipse">
              <a:avLst/>
            </a:prstGeom>
            <a:solidFill>
              <a:srgbClr val="DEF0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CasellaDiTesto 5">
              <a:extLst>
                <a:ext uri="{FF2B5EF4-FFF2-40B4-BE49-F238E27FC236}">
                  <a16:creationId xmlns:a16="http://schemas.microsoft.com/office/drawing/2014/main" id="{AAB55CA8-7F06-39D7-0839-5BEB8C568232}"/>
                </a:ext>
              </a:extLst>
            </p:cNvPr>
            <p:cNvSpPr txBox="1"/>
            <p:nvPr/>
          </p:nvSpPr>
          <p:spPr>
            <a:xfrm>
              <a:off x="5043055" y="3084900"/>
              <a:ext cx="665018" cy="369332"/>
            </a:xfrm>
            <a:prstGeom prst="rect">
              <a:avLst/>
            </a:prstGeom>
            <a:noFill/>
          </p:spPr>
          <p:txBody>
            <a:bodyPr wrap="square" rtlCol="0">
              <a:spAutoFit/>
            </a:bodyPr>
            <a:lstStyle/>
            <a:p>
              <a:r>
                <a:rPr lang="en-GB" dirty="0"/>
                <a:t>NN</a:t>
              </a:r>
            </a:p>
          </p:txBody>
        </p:sp>
      </p:grpSp>
      <p:sp>
        <p:nvSpPr>
          <p:cNvPr id="7" name="CasellaDiTesto 6">
            <a:extLst>
              <a:ext uri="{FF2B5EF4-FFF2-40B4-BE49-F238E27FC236}">
                <a16:creationId xmlns:a16="http://schemas.microsoft.com/office/drawing/2014/main" id="{887366BF-3490-3881-5FEC-D0C13D50B612}"/>
              </a:ext>
            </a:extLst>
          </p:cNvPr>
          <p:cNvSpPr txBox="1"/>
          <p:nvPr/>
        </p:nvSpPr>
        <p:spPr>
          <a:xfrm>
            <a:off x="6687125" y="2923097"/>
            <a:ext cx="2678547" cy="646331"/>
          </a:xfrm>
          <a:prstGeom prst="rect">
            <a:avLst/>
          </a:prstGeom>
          <a:noFill/>
          <a:ln w="12700">
            <a:solidFill>
              <a:schemeClr val="tx1"/>
            </a:solidFill>
          </a:ln>
        </p:spPr>
        <p:txBody>
          <a:bodyPr wrap="square" rtlCol="0">
            <a:spAutoFit/>
          </a:bodyPr>
          <a:lstStyle/>
          <a:p>
            <a:pPr algn="ctr"/>
            <a:r>
              <a:rPr lang="en-GB" b="1" dirty="0"/>
              <a:t>OUTPUT</a:t>
            </a:r>
          </a:p>
          <a:p>
            <a:pPr algn="ctr"/>
            <a:r>
              <a:rPr lang="en-GB" dirty="0"/>
              <a:t>e.g., reverberation time</a:t>
            </a:r>
          </a:p>
        </p:txBody>
      </p:sp>
      <p:sp>
        <p:nvSpPr>
          <p:cNvPr id="8" name="Freccia a destra 7">
            <a:extLst>
              <a:ext uri="{FF2B5EF4-FFF2-40B4-BE49-F238E27FC236}">
                <a16:creationId xmlns:a16="http://schemas.microsoft.com/office/drawing/2014/main" id="{2FC994E4-ADB4-6957-0F1A-6FD1F3E76125}"/>
              </a:ext>
            </a:extLst>
          </p:cNvPr>
          <p:cNvSpPr/>
          <p:nvPr/>
        </p:nvSpPr>
        <p:spPr>
          <a:xfrm>
            <a:off x="4027054" y="3189117"/>
            <a:ext cx="720437" cy="270164"/>
          </a:xfrm>
          <a:prstGeom prst="rightArrow">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Freccia a destra 8">
            <a:extLst>
              <a:ext uri="{FF2B5EF4-FFF2-40B4-BE49-F238E27FC236}">
                <a16:creationId xmlns:a16="http://schemas.microsoft.com/office/drawing/2014/main" id="{68BF25C1-0AE4-3F40-885D-65D82461CCDE}"/>
              </a:ext>
            </a:extLst>
          </p:cNvPr>
          <p:cNvSpPr/>
          <p:nvPr/>
        </p:nvSpPr>
        <p:spPr>
          <a:xfrm>
            <a:off x="5837380" y="3152956"/>
            <a:ext cx="720437" cy="270164"/>
          </a:xfrm>
          <a:prstGeom prst="rightArrow">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ttangolo 10">
            <a:extLst>
              <a:ext uri="{FF2B5EF4-FFF2-40B4-BE49-F238E27FC236}">
                <a16:creationId xmlns:a16="http://schemas.microsoft.com/office/drawing/2014/main" id="{79BE6A57-816D-D6C7-CC63-0A5F4091630F}"/>
              </a:ext>
            </a:extLst>
          </p:cNvPr>
          <p:cNvSpPr/>
          <p:nvPr/>
        </p:nvSpPr>
        <p:spPr>
          <a:xfrm>
            <a:off x="4793673" y="2923097"/>
            <a:ext cx="997526" cy="762212"/>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CasellaDiTesto 11">
            <a:extLst>
              <a:ext uri="{FF2B5EF4-FFF2-40B4-BE49-F238E27FC236}">
                <a16:creationId xmlns:a16="http://schemas.microsoft.com/office/drawing/2014/main" id="{F959DF96-A9D6-E9DD-D738-270C7E8B4281}"/>
              </a:ext>
            </a:extLst>
          </p:cNvPr>
          <p:cNvSpPr txBox="1"/>
          <p:nvPr/>
        </p:nvSpPr>
        <p:spPr>
          <a:xfrm>
            <a:off x="4886036" y="3001034"/>
            <a:ext cx="822036" cy="646331"/>
          </a:xfrm>
          <a:prstGeom prst="rect">
            <a:avLst/>
          </a:prstGeom>
          <a:noFill/>
        </p:spPr>
        <p:txBody>
          <a:bodyPr wrap="square" rtlCol="0">
            <a:spAutoFit/>
          </a:bodyPr>
          <a:lstStyle/>
          <a:p>
            <a:r>
              <a:rPr lang="en-GB" dirty="0"/>
              <a:t>Pachyderm</a:t>
            </a:r>
          </a:p>
        </p:txBody>
      </p:sp>
      <p:sp>
        <p:nvSpPr>
          <p:cNvPr id="13" name="Freccia a destra 12">
            <a:extLst>
              <a:ext uri="{FF2B5EF4-FFF2-40B4-BE49-F238E27FC236}">
                <a16:creationId xmlns:a16="http://schemas.microsoft.com/office/drawing/2014/main" id="{59C16390-1355-AB68-E5C2-AE296A17A636}"/>
              </a:ext>
            </a:extLst>
          </p:cNvPr>
          <p:cNvSpPr/>
          <p:nvPr/>
        </p:nvSpPr>
        <p:spPr>
          <a:xfrm rot="2250442">
            <a:off x="3706838" y="3876452"/>
            <a:ext cx="1136071" cy="37569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Freccia a destra 13">
            <a:extLst>
              <a:ext uri="{FF2B5EF4-FFF2-40B4-BE49-F238E27FC236}">
                <a16:creationId xmlns:a16="http://schemas.microsoft.com/office/drawing/2014/main" id="{8341B52C-E43B-AF14-EFEF-FDD51F883A94}"/>
              </a:ext>
            </a:extLst>
          </p:cNvPr>
          <p:cNvSpPr/>
          <p:nvPr/>
        </p:nvSpPr>
        <p:spPr>
          <a:xfrm rot="19476608">
            <a:off x="5711084" y="3925294"/>
            <a:ext cx="1257816" cy="37569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79583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5E0E474-4446-7E37-23CB-14C04B1EF6E2}"/>
              </a:ext>
            </a:extLst>
          </p:cNvPr>
          <p:cNvSpPr>
            <a:spLocks noGrp="1"/>
          </p:cNvSpPr>
          <p:nvPr>
            <p:ph type="title"/>
          </p:nvPr>
        </p:nvSpPr>
        <p:spPr/>
        <p:txBody>
          <a:bodyPr/>
          <a:lstStyle/>
          <a:p>
            <a:r>
              <a:rPr lang="en-GB" dirty="0"/>
              <a:t>Fast optimization with neural networks</a:t>
            </a:r>
          </a:p>
        </p:txBody>
      </p:sp>
      <p:sp>
        <p:nvSpPr>
          <p:cNvPr id="3" name="Segnaposto contenuto 2">
            <a:extLst>
              <a:ext uri="{FF2B5EF4-FFF2-40B4-BE49-F238E27FC236}">
                <a16:creationId xmlns:a16="http://schemas.microsoft.com/office/drawing/2014/main" id="{A02C79EA-435B-1989-2181-9C979E9920CF}"/>
              </a:ext>
            </a:extLst>
          </p:cNvPr>
          <p:cNvSpPr>
            <a:spLocks noGrp="1"/>
          </p:cNvSpPr>
          <p:nvPr>
            <p:ph idx="1"/>
          </p:nvPr>
        </p:nvSpPr>
        <p:spPr>
          <a:xfrm>
            <a:off x="600075" y="1795850"/>
            <a:ext cx="11102398" cy="4530302"/>
          </a:xfrm>
        </p:spPr>
        <p:txBody>
          <a:bodyPr/>
          <a:lstStyle/>
          <a:p>
            <a:pPr>
              <a:buFont typeface="Wingdings" panose="05000000000000000000" pitchFamily="2" charset="2"/>
              <a:buChar char="Ø"/>
            </a:pPr>
            <a:r>
              <a:rPr lang="en-GB" dirty="0"/>
              <a:t>Since the neural network surrogate is </a:t>
            </a:r>
            <a:r>
              <a:rPr lang="en-GB" b="1" dirty="0"/>
              <a:t>orders of magnitude faster </a:t>
            </a:r>
            <a:r>
              <a:rPr lang="en-GB" dirty="0"/>
              <a:t>than Pachyderm, we can use it in an optimization loop.</a:t>
            </a:r>
          </a:p>
          <a:p>
            <a:pPr>
              <a:buFont typeface="Wingdings" panose="05000000000000000000" pitchFamily="2" charset="2"/>
              <a:buChar char="Ø"/>
            </a:pPr>
            <a:r>
              <a:rPr lang="en-GB" dirty="0"/>
              <a:t>Optimization problem: how to </a:t>
            </a:r>
            <a:r>
              <a:rPr lang="en-GB" b="1" dirty="0"/>
              <a:t>find the position </a:t>
            </a:r>
            <a:r>
              <a:rPr lang="en-GB" dirty="0"/>
              <a:t>of the panel that </a:t>
            </a:r>
            <a:r>
              <a:rPr lang="en-GB" b="1" dirty="0"/>
              <a:t>minimizes</a:t>
            </a:r>
            <a:r>
              <a:rPr lang="en-GB" dirty="0"/>
              <a:t> the reverberation time?</a:t>
            </a:r>
          </a:p>
          <a:p>
            <a:pPr>
              <a:buFont typeface="Wingdings" panose="05000000000000000000" pitchFamily="2" charset="2"/>
              <a:buChar char="Ø"/>
            </a:pPr>
            <a:endParaRPr lang="en-GB" dirty="0"/>
          </a:p>
          <a:p>
            <a:pPr>
              <a:buFont typeface="Wingdings" panose="05000000000000000000" pitchFamily="2" charset="2"/>
              <a:buChar char="Ø"/>
            </a:pPr>
            <a:r>
              <a:rPr lang="en-GB" dirty="0"/>
              <a:t>Optimization loop:</a:t>
            </a:r>
          </a:p>
          <a:p>
            <a:pPr lvl="1">
              <a:buFont typeface="Wingdings" panose="05000000000000000000" pitchFamily="2" charset="2"/>
              <a:buChar char="Ø"/>
            </a:pPr>
            <a:r>
              <a:rPr lang="en-GB" dirty="0"/>
              <a:t>Place the panel;</a:t>
            </a:r>
          </a:p>
          <a:p>
            <a:pPr lvl="1">
              <a:buFont typeface="Wingdings" panose="05000000000000000000" pitchFamily="2" charset="2"/>
              <a:buChar char="Ø"/>
            </a:pPr>
            <a:r>
              <a:rPr lang="en-GB" dirty="0"/>
              <a:t>Compute the reverberation time;</a:t>
            </a:r>
          </a:p>
          <a:p>
            <a:pPr lvl="1">
              <a:buFont typeface="Wingdings" panose="05000000000000000000" pitchFamily="2" charset="2"/>
              <a:buChar char="Ø"/>
            </a:pPr>
            <a:r>
              <a:rPr lang="en-GB" dirty="0"/>
              <a:t>IF increases: move the panel in the OPPOSITE direction</a:t>
            </a:r>
          </a:p>
          <a:p>
            <a:pPr lvl="1">
              <a:buFont typeface="Wingdings" panose="05000000000000000000" pitchFamily="2" charset="2"/>
              <a:buChar char="Ø"/>
            </a:pPr>
            <a:r>
              <a:rPr lang="en-GB" dirty="0"/>
              <a:t>IF decreases: move the panel in the SAME direction</a:t>
            </a:r>
          </a:p>
          <a:p>
            <a:pPr lvl="1">
              <a:buFont typeface="Wingdings" panose="05000000000000000000" pitchFamily="2" charset="2"/>
              <a:buChar char="Ø"/>
            </a:pPr>
            <a:r>
              <a:rPr lang="en-GB" dirty="0"/>
              <a:t>Repeat</a:t>
            </a:r>
          </a:p>
          <a:p>
            <a:pPr lvl="1">
              <a:buFont typeface="Wingdings" panose="05000000000000000000" pitchFamily="2" charset="2"/>
              <a:buChar char="Ø"/>
            </a:pPr>
            <a:endParaRPr lang="en-GB" dirty="0"/>
          </a:p>
          <a:p>
            <a:pPr>
              <a:buFont typeface="Wingdings" panose="05000000000000000000" pitchFamily="2" charset="2"/>
              <a:buChar char="Ø"/>
            </a:pPr>
            <a:r>
              <a:rPr lang="en-GB" dirty="0"/>
              <a:t>It can take </a:t>
            </a:r>
            <a:r>
              <a:rPr lang="en-GB" b="1" dirty="0"/>
              <a:t>thousands of iterations</a:t>
            </a:r>
            <a:r>
              <a:rPr lang="en-GB" dirty="0"/>
              <a:t> to find the optimal position! If we use Pachyderm each time the problem would become unpractical.</a:t>
            </a:r>
          </a:p>
          <a:p>
            <a:pPr>
              <a:buFont typeface="Wingdings" panose="05000000000000000000" pitchFamily="2" charset="2"/>
              <a:buChar char="Ø"/>
            </a:pPr>
            <a:r>
              <a:rPr lang="en-GB" dirty="0"/>
              <a:t>With a </a:t>
            </a:r>
            <a:r>
              <a:rPr lang="en-GB" b="1" dirty="0"/>
              <a:t>neural network surrogate </a:t>
            </a:r>
            <a:r>
              <a:rPr lang="en-GB" dirty="0"/>
              <a:t>the optimization becomes feasible: you know </a:t>
            </a:r>
            <a:r>
              <a:rPr lang="en-GB" b="1" dirty="0"/>
              <a:t>where to put the panel</a:t>
            </a:r>
            <a:r>
              <a:rPr lang="en-GB" dirty="0"/>
              <a:t>! </a:t>
            </a:r>
          </a:p>
        </p:txBody>
      </p:sp>
      <p:pic>
        <p:nvPicPr>
          <p:cNvPr id="5" name="Immagine 4">
            <a:extLst>
              <a:ext uri="{FF2B5EF4-FFF2-40B4-BE49-F238E27FC236}">
                <a16:creationId xmlns:a16="http://schemas.microsoft.com/office/drawing/2014/main" id="{9DDB253D-A01C-1094-13AE-820035E8CF68}"/>
              </a:ext>
            </a:extLst>
          </p:cNvPr>
          <p:cNvPicPr>
            <a:picLocks noChangeAspect="1"/>
          </p:cNvPicPr>
          <p:nvPr/>
        </p:nvPicPr>
        <p:blipFill>
          <a:blip r:embed="rId2"/>
          <a:stretch>
            <a:fillRect/>
          </a:stretch>
        </p:blipFill>
        <p:spPr>
          <a:xfrm>
            <a:off x="7749309" y="2936800"/>
            <a:ext cx="3280036" cy="2055347"/>
          </a:xfrm>
          <a:prstGeom prst="rect">
            <a:avLst/>
          </a:prstGeom>
        </p:spPr>
      </p:pic>
    </p:spTree>
    <p:extLst>
      <p:ext uri="{BB962C8B-B14F-4D97-AF65-F5344CB8AC3E}">
        <p14:creationId xmlns:p14="http://schemas.microsoft.com/office/powerpoint/2010/main" val="1666120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C0481-F90B-EBD1-4B02-9A93061DC41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70E1A6B-3EDF-B3F7-D08F-23A98FDAC0EA}"/>
              </a:ext>
            </a:extLst>
          </p:cNvPr>
          <p:cNvSpPr>
            <a:spLocks noGrp="1"/>
          </p:cNvSpPr>
          <p:nvPr>
            <p:ph type="title"/>
          </p:nvPr>
        </p:nvSpPr>
        <p:spPr>
          <a:xfrm>
            <a:off x="600868" y="2203215"/>
            <a:ext cx="10990263" cy="568412"/>
          </a:xfrm>
        </p:spPr>
        <p:txBody>
          <a:bodyPr/>
          <a:lstStyle/>
          <a:p>
            <a:pPr algn="ctr"/>
            <a:r>
              <a:rPr lang="en-GB" dirty="0"/>
              <a:t>MODULE 4</a:t>
            </a:r>
            <a:br>
              <a:rPr lang="en-GB" dirty="0"/>
            </a:br>
            <a:br>
              <a:rPr lang="en-GB" dirty="0"/>
            </a:br>
            <a:r>
              <a:rPr lang="en-GB" dirty="0"/>
              <a:t>Neural Network Implementation</a:t>
            </a:r>
            <a:br>
              <a:rPr lang="en-GB" dirty="0"/>
            </a:br>
            <a:r>
              <a:rPr lang="en-GB" dirty="0"/>
              <a:t>in PUG (GH)</a:t>
            </a:r>
          </a:p>
        </p:txBody>
      </p:sp>
    </p:spTree>
    <p:extLst>
      <p:ext uri="{BB962C8B-B14F-4D97-AF65-F5344CB8AC3E}">
        <p14:creationId xmlns:p14="http://schemas.microsoft.com/office/powerpoint/2010/main" val="4378116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F7A8B4-6BBA-A44D-F2B3-7285CFEBCF16}"/>
              </a:ext>
            </a:extLst>
          </p:cNvPr>
          <p:cNvSpPr>
            <a:spLocks noGrp="1"/>
          </p:cNvSpPr>
          <p:nvPr>
            <p:ph type="title"/>
          </p:nvPr>
        </p:nvSpPr>
        <p:spPr/>
        <p:txBody>
          <a:bodyPr/>
          <a:lstStyle/>
          <a:p>
            <a:r>
              <a:rPr lang="en-GB" dirty="0"/>
              <a:t>1. Data pre-processing</a:t>
            </a:r>
          </a:p>
        </p:txBody>
      </p:sp>
      <p:sp>
        <p:nvSpPr>
          <p:cNvPr id="3" name="Segnaposto contenuto 2">
            <a:extLst>
              <a:ext uri="{FF2B5EF4-FFF2-40B4-BE49-F238E27FC236}">
                <a16:creationId xmlns:a16="http://schemas.microsoft.com/office/drawing/2014/main" id="{5E9C16B4-DB14-91CD-66B0-DA737DCDDD71}"/>
              </a:ext>
            </a:extLst>
          </p:cNvPr>
          <p:cNvSpPr>
            <a:spLocks noGrp="1"/>
          </p:cNvSpPr>
          <p:nvPr>
            <p:ph idx="1"/>
          </p:nvPr>
        </p:nvSpPr>
        <p:spPr>
          <a:xfrm>
            <a:off x="455317" y="1795850"/>
            <a:ext cx="5865380" cy="4530302"/>
          </a:xfrm>
        </p:spPr>
        <p:txBody>
          <a:bodyPr/>
          <a:lstStyle/>
          <a:p>
            <a:pPr marL="0" indent="0">
              <a:buNone/>
            </a:pPr>
            <a:r>
              <a:rPr lang="en-GB" dirty="0"/>
              <a:t>The first step is to </a:t>
            </a:r>
            <a:r>
              <a:rPr lang="en-GB" b="1" dirty="0"/>
              <a:t>load the dataset</a:t>
            </a:r>
            <a:r>
              <a:rPr lang="en-GB" dirty="0"/>
              <a:t>. Usually, this step come after the production of the dataset. In our case it is pre-made by us (see GitHub repo).</a:t>
            </a:r>
          </a:p>
          <a:p>
            <a:pPr marL="0" indent="0">
              <a:buNone/>
            </a:pPr>
            <a:endParaRPr lang="en-GB" dirty="0"/>
          </a:p>
          <a:p>
            <a:pPr marL="0" indent="0">
              <a:buNone/>
            </a:pPr>
            <a:r>
              <a:rPr lang="en-GB" dirty="0"/>
              <a:t>Third step is to</a:t>
            </a:r>
            <a:r>
              <a:rPr lang="en-GB" b="1" dirty="0"/>
              <a:t> Normalize</a:t>
            </a:r>
            <a:r>
              <a:rPr lang="en-GB" dirty="0"/>
              <a:t> the training dataset: all the values are in the range [0,1]</a:t>
            </a:r>
          </a:p>
          <a:p>
            <a:pPr marL="0" indent="0">
              <a:buNone/>
            </a:pPr>
            <a:endParaRPr lang="en-GB" dirty="0"/>
          </a:p>
          <a:p>
            <a:pPr lvl="1">
              <a:buFont typeface="Wingdings" panose="05000000000000000000" pitchFamily="2" charset="2"/>
              <a:buChar char="Ø"/>
            </a:pPr>
            <a:endParaRPr lang="en-GB" dirty="0"/>
          </a:p>
          <a:p>
            <a:pPr marL="0" indent="0">
              <a:buNone/>
            </a:pPr>
            <a:endParaRPr lang="en-GB" dirty="0"/>
          </a:p>
          <a:p>
            <a:pPr>
              <a:buFont typeface="Wingdings" panose="05000000000000000000" pitchFamily="2" charset="2"/>
              <a:buChar char="Ø"/>
            </a:pPr>
            <a:endParaRPr lang="en-GB" dirty="0"/>
          </a:p>
          <a:p>
            <a:pPr>
              <a:buFont typeface="Wingdings" panose="05000000000000000000" pitchFamily="2" charset="2"/>
              <a:buChar char="Ø"/>
            </a:pPr>
            <a:endParaRPr lang="en-GB" dirty="0"/>
          </a:p>
        </p:txBody>
      </p:sp>
      <p:pic>
        <p:nvPicPr>
          <p:cNvPr id="9" name="Immagine 8">
            <a:extLst>
              <a:ext uri="{FF2B5EF4-FFF2-40B4-BE49-F238E27FC236}">
                <a16:creationId xmlns:a16="http://schemas.microsoft.com/office/drawing/2014/main" id="{506B66B6-CF5B-236D-C6FD-4CD30751CD7C}"/>
              </a:ext>
            </a:extLst>
          </p:cNvPr>
          <p:cNvPicPr>
            <a:picLocks noChangeAspect="1"/>
          </p:cNvPicPr>
          <p:nvPr/>
        </p:nvPicPr>
        <p:blipFill>
          <a:blip r:embed="rId2"/>
          <a:stretch>
            <a:fillRect/>
          </a:stretch>
        </p:blipFill>
        <p:spPr>
          <a:xfrm>
            <a:off x="7002357" y="2614686"/>
            <a:ext cx="5022195" cy="700374"/>
          </a:xfrm>
          <a:prstGeom prst="rect">
            <a:avLst/>
          </a:prstGeom>
        </p:spPr>
      </p:pic>
      <p:pic>
        <p:nvPicPr>
          <p:cNvPr id="12" name="Immagine 11">
            <a:extLst>
              <a:ext uri="{FF2B5EF4-FFF2-40B4-BE49-F238E27FC236}">
                <a16:creationId xmlns:a16="http://schemas.microsoft.com/office/drawing/2014/main" id="{C728762E-4733-DCD7-BFC0-C9A5B11D1B39}"/>
              </a:ext>
            </a:extLst>
          </p:cNvPr>
          <p:cNvPicPr>
            <a:picLocks noChangeAspect="1"/>
          </p:cNvPicPr>
          <p:nvPr/>
        </p:nvPicPr>
        <p:blipFill>
          <a:blip r:embed="rId3"/>
          <a:stretch>
            <a:fillRect/>
          </a:stretch>
        </p:blipFill>
        <p:spPr>
          <a:xfrm>
            <a:off x="600075" y="3704560"/>
            <a:ext cx="3675606" cy="1053906"/>
          </a:xfrm>
          <a:prstGeom prst="rect">
            <a:avLst/>
          </a:prstGeom>
        </p:spPr>
      </p:pic>
      <p:sp>
        <p:nvSpPr>
          <p:cNvPr id="5" name="CasellaDiTesto 4">
            <a:extLst>
              <a:ext uri="{FF2B5EF4-FFF2-40B4-BE49-F238E27FC236}">
                <a16:creationId xmlns:a16="http://schemas.microsoft.com/office/drawing/2014/main" id="{26E0DC76-B37C-D54F-733B-BF0A9599D0C7}"/>
              </a:ext>
            </a:extLst>
          </p:cNvPr>
          <p:cNvSpPr txBox="1"/>
          <p:nvPr/>
        </p:nvSpPr>
        <p:spPr>
          <a:xfrm>
            <a:off x="6465455" y="1795850"/>
            <a:ext cx="6096000" cy="2585323"/>
          </a:xfrm>
          <a:prstGeom prst="rect">
            <a:avLst/>
          </a:prstGeom>
          <a:noFill/>
        </p:spPr>
        <p:txBody>
          <a:bodyPr wrap="square">
            <a:spAutoFit/>
          </a:bodyPr>
          <a:lstStyle/>
          <a:p>
            <a:pPr marL="0" indent="0">
              <a:buNone/>
            </a:pPr>
            <a:r>
              <a:rPr lang="en-GB" dirty="0"/>
              <a:t>The second step is to pre-process the training dataset:</a:t>
            </a:r>
          </a:p>
          <a:p>
            <a:pPr lvl="1">
              <a:buFont typeface="Wingdings" panose="05000000000000000000" pitchFamily="2" charset="2"/>
              <a:buChar char="Ø"/>
            </a:pPr>
            <a:r>
              <a:rPr lang="en-GB" b="1" dirty="0"/>
              <a:t>Split</a:t>
            </a:r>
            <a:r>
              <a:rPr lang="en-GB" dirty="0"/>
              <a:t> the dataset into input and output.</a:t>
            </a:r>
          </a:p>
          <a:p>
            <a:pPr lvl="1">
              <a:buFont typeface="Wingdings" panose="05000000000000000000" pitchFamily="2" charset="2"/>
              <a:buChar char="Ø"/>
            </a:pPr>
            <a:endParaRPr lang="en-GB" dirty="0"/>
          </a:p>
          <a:p>
            <a:pPr lvl="1">
              <a:buFont typeface="Wingdings" panose="05000000000000000000" pitchFamily="2" charset="2"/>
              <a:buChar char="Ø"/>
            </a:pPr>
            <a:endParaRPr lang="en-GB" dirty="0"/>
          </a:p>
          <a:p>
            <a:pPr marL="457200" lvl="1" indent="0">
              <a:buNone/>
            </a:pPr>
            <a:endParaRPr lang="en-GB" dirty="0"/>
          </a:p>
          <a:p>
            <a:pPr marL="457200" lvl="1" indent="0">
              <a:buNone/>
            </a:pPr>
            <a:endParaRPr lang="en-GB" dirty="0"/>
          </a:p>
          <a:p>
            <a:pPr lvl="1"/>
            <a:endParaRPr lang="en-GB" dirty="0"/>
          </a:p>
          <a:p>
            <a:pPr lvl="1">
              <a:buFont typeface="Wingdings" panose="05000000000000000000" pitchFamily="2" charset="2"/>
              <a:buChar char="Ø"/>
            </a:pPr>
            <a:endParaRPr lang="en-GB" dirty="0"/>
          </a:p>
          <a:p>
            <a:pPr marL="0" indent="0">
              <a:buNone/>
            </a:pPr>
            <a:endParaRPr lang="en-GB" dirty="0"/>
          </a:p>
        </p:txBody>
      </p:sp>
      <p:pic>
        <p:nvPicPr>
          <p:cNvPr id="7" name="Immagine 6">
            <a:extLst>
              <a:ext uri="{FF2B5EF4-FFF2-40B4-BE49-F238E27FC236}">
                <a16:creationId xmlns:a16="http://schemas.microsoft.com/office/drawing/2014/main" id="{997042C5-C4F7-F93F-CD60-63995E9FB3DF}"/>
              </a:ext>
            </a:extLst>
          </p:cNvPr>
          <p:cNvPicPr>
            <a:picLocks noChangeAspect="1"/>
          </p:cNvPicPr>
          <p:nvPr/>
        </p:nvPicPr>
        <p:blipFill>
          <a:blip r:embed="rId4"/>
          <a:stretch>
            <a:fillRect/>
          </a:stretch>
        </p:blipFill>
        <p:spPr>
          <a:xfrm>
            <a:off x="4749115" y="3704560"/>
            <a:ext cx="7275437" cy="2753398"/>
          </a:xfrm>
          <a:prstGeom prst="rect">
            <a:avLst/>
          </a:prstGeom>
        </p:spPr>
      </p:pic>
    </p:spTree>
    <p:extLst>
      <p:ext uri="{BB962C8B-B14F-4D97-AF65-F5344CB8AC3E}">
        <p14:creationId xmlns:p14="http://schemas.microsoft.com/office/powerpoint/2010/main" val="1666417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a:extLst>
              <a:ext uri="{FF2B5EF4-FFF2-40B4-BE49-F238E27FC236}">
                <a16:creationId xmlns:a16="http://schemas.microsoft.com/office/drawing/2014/main" id="{5652F0C5-4E72-4143-CFC3-3D9CD00E2CE8}"/>
              </a:ext>
            </a:extLst>
          </p:cNvPr>
          <p:cNvSpPr>
            <a:spLocks noGrp="1"/>
          </p:cNvSpPr>
          <p:nvPr>
            <p:ph type="title"/>
          </p:nvPr>
        </p:nvSpPr>
        <p:spPr>
          <a:xfrm>
            <a:off x="600075" y="1095375"/>
            <a:ext cx="11074689" cy="568325"/>
          </a:xfrm>
        </p:spPr>
        <p:txBody>
          <a:bodyPr/>
          <a:lstStyle/>
          <a:p>
            <a:r>
              <a:rPr lang="en-GB" dirty="0"/>
              <a:t>2. Define the neural network architecture</a:t>
            </a:r>
          </a:p>
        </p:txBody>
      </p:sp>
      <p:sp>
        <p:nvSpPr>
          <p:cNvPr id="8" name="Segnaposto contenuto 2">
            <a:extLst>
              <a:ext uri="{FF2B5EF4-FFF2-40B4-BE49-F238E27FC236}">
                <a16:creationId xmlns:a16="http://schemas.microsoft.com/office/drawing/2014/main" id="{D602494B-94A1-5231-131F-45D03664777C}"/>
              </a:ext>
            </a:extLst>
          </p:cNvPr>
          <p:cNvSpPr txBox="1">
            <a:spLocks/>
          </p:cNvSpPr>
          <p:nvPr/>
        </p:nvSpPr>
        <p:spPr>
          <a:xfrm>
            <a:off x="304511" y="1777378"/>
            <a:ext cx="6234835" cy="45303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The next step is to build the </a:t>
            </a:r>
            <a:r>
              <a:rPr lang="en-GB" b="1" dirty="0"/>
              <a:t>architecture of the neural network</a:t>
            </a:r>
            <a:r>
              <a:rPr lang="en-GB" dirty="0"/>
              <a:t>.</a:t>
            </a:r>
          </a:p>
          <a:p>
            <a:pPr marL="0" indent="0">
              <a:buNone/>
            </a:pPr>
            <a:r>
              <a:rPr lang="en-GB" dirty="0"/>
              <a:t>The neural network has 5 layers:</a:t>
            </a:r>
          </a:p>
          <a:p>
            <a:pPr lvl="1">
              <a:buFont typeface="Wingdings" panose="05000000000000000000" pitchFamily="2" charset="2"/>
              <a:buChar char="Ø"/>
            </a:pPr>
            <a:r>
              <a:rPr lang="en-GB" dirty="0"/>
              <a:t>Input layer: 2 neurons (to receive x and y of panel position)</a:t>
            </a:r>
          </a:p>
          <a:p>
            <a:pPr lvl="1">
              <a:buFont typeface="Wingdings" panose="05000000000000000000" pitchFamily="2" charset="2"/>
              <a:buChar char="Ø"/>
            </a:pPr>
            <a:r>
              <a:rPr lang="en-GB" dirty="0"/>
              <a:t>Dense layer 1: 64 neurons</a:t>
            </a:r>
          </a:p>
          <a:p>
            <a:pPr lvl="1">
              <a:buFont typeface="Wingdings" panose="05000000000000000000" pitchFamily="2" charset="2"/>
              <a:buChar char="Ø"/>
            </a:pPr>
            <a:r>
              <a:rPr lang="en-GB" dirty="0"/>
              <a:t>Dense layer 2: 32 neurons</a:t>
            </a:r>
          </a:p>
          <a:p>
            <a:pPr lvl="1">
              <a:buFont typeface="Wingdings" panose="05000000000000000000" pitchFamily="2" charset="2"/>
              <a:buChar char="Ø"/>
            </a:pPr>
            <a:r>
              <a:rPr lang="en-GB" dirty="0"/>
              <a:t>Dense layer 3: 16 neurons</a:t>
            </a:r>
          </a:p>
          <a:p>
            <a:pPr lvl="1">
              <a:buFont typeface="Wingdings" panose="05000000000000000000" pitchFamily="2" charset="2"/>
              <a:buChar char="Ø"/>
            </a:pPr>
            <a:r>
              <a:rPr lang="en-GB" dirty="0"/>
              <a:t>Output layer: 1 neurons (reverberation time is one number)</a:t>
            </a:r>
          </a:p>
          <a:p>
            <a:pPr marL="0" indent="0">
              <a:buNone/>
            </a:pPr>
            <a:endParaRPr lang="en-GB" dirty="0"/>
          </a:p>
          <a:p>
            <a:pPr marL="0" indent="0">
              <a:buNone/>
            </a:pPr>
            <a:endParaRPr lang="en-GB" dirty="0"/>
          </a:p>
          <a:p>
            <a:pPr>
              <a:buFont typeface="Wingdings" panose="05000000000000000000" pitchFamily="2" charset="2"/>
              <a:buChar char="Ø"/>
            </a:pPr>
            <a:endParaRPr lang="en-GB" dirty="0"/>
          </a:p>
          <a:p>
            <a:pPr>
              <a:buFont typeface="Wingdings" panose="05000000000000000000" pitchFamily="2" charset="2"/>
              <a:buChar char="Ø"/>
            </a:pPr>
            <a:endParaRPr lang="en-GB" dirty="0"/>
          </a:p>
        </p:txBody>
      </p:sp>
      <p:pic>
        <p:nvPicPr>
          <p:cNvPr id="3" name="Immagine 2">
            <a:extLst>
              <a:ext uri="{FF2B5EF4-FFF2-40B4-BE49-F238E27FC236}">
                <a16:creationId xmlns:a16="http://schemas.microsoft.com/office/drawing/2014/main" id="{7539839D-35C7-2BEC-CE46-A7942B6024B8}"/>
              </a:ext>
            </a:extLst>
          </p:cNvPr>
          <p:cNvPicPr>
            <a:picLocks noChangeAspect="1"/>
          </p:cNvPicPr>
          <p:nvPr/>
        </p:nvPicPr>
        <p:blipFill>
          <a:blip r:embed="rId2"/>
          <a:stretch>
            <a:fillRect/>
          </a:stretch>
        </p:blipFill>
        <p:spPr>
          <a:xfrm>
            <a:off x="7455773" y="2047311"/>
            <a:ext cx="4218991" cy="1626725"/>
          </a:xfrm>
          <a:prstGeom prst="rect">
            <a:avLst/>
          </a:prstGeom>
        </p:spPr>
      </p:pic>
      <p:pic>
        <p:nvPicPr>
          <p:cNvPr id="4" name="Immagine 3">
            <a:extLst>
              <a:ext uri="{FF2B5EF4-FFF2-40B4-BE49-F238E27FC236}">
                <a16:creationId xmlns:a16="http://schemas.microsoft.com/office/drawing/2014/main" id="{16052F1F-4F0C-7E0A-C22E-305D918296FA}"/>
              </a:ext>
            </a:extLst>
          </p:cNvPr>
          <p:cNvPicPr>
            <a:picLocks noChangeAspect="1"/>
          </p:cNvPicPr>
          <p:nvPr/>
        </p:nvPicPr>
        <p:blipFill>
          <a:blip r:embed="rId3"/>
          <a:stretch>
            <a:fillRect/>
          </a:stretch>
        </p:blipFill>
        <p:spPr>
          <a:xfrm>
            <a:off x="558655" y="4576828"/>
            <a:ext cx="11074689" cy="2025783"/>
          </a:xfrm>
          <a:prstGeom prst="rect">
            <a:avLst/>
          </a:prstGeom>
        </p:spPr>
      </p:pic>
    </p:spTree>
    <p:extLst>
      <p:ext uri="{BB962C8B-B14F-4D97-AF65-F5344CB8AC3E}">
        <p14:creationId xmlns:p14="http://schemas.microsoft.com/office/powerpoint/2010/main" val="809241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8EA35149-04BF-A00E-C59D-FDBE1F6F7705}"/>
              </a:ext>
            </a:extLst>
          </p:cNvPr>
          <p:cNvSpPr>
            <a:spLocks noGrp="1"/>
          </p:cNvSpPr>
          <p:nvPr>
            <p:ph type="title"/>
          </p:nvPr>
        </p:nvSpPr>
        <p:spPr>
          <a:xfrm>
            <a:off x="600075" y="1095375"/>
            <a:ext cx="10990263" cy="568325"/>
          </a:xfrm>
        </p:spPr>
        <p:txBody>
          <a:bodyPr/>
          <a:lstStyle/>
          <a:p>
            <a:r>
              <a:rPr lang="en-GB" dirty="0"/>
              <a:t>3. Compile the model</a:t>
            </a:r>
          </a:p>
        </p:txBody>
      </p:sp>
      <p:sp>
        <p:nvSpPr>
          <p:cNvPr id="5" name="Segnaposto contenuto 2">
            <a:extLst>
              <a:ext uri="{FF2B5EF4-FFF2-40B4-BE49-F238E27FC236}">
                <a16:creationId xmlns:a16="http://schemas.microsoft.com/office/drawing/2014/main" id="{7FE2D94D-B547-B32C-48D7-56BFFC2C8B51}"/>
              </a:ext>
            </a:extLst>
          </p:cNvPr>
          <p:cNvSpPr txBox="1">
            <a:spLocks/>
          </p:cNvSpPr>
          <p:nvPr/>
        </p:nvSpPr>
        <p:spPr>
          <a:xfrm>
            <a:off x="304511" y="1777378"/>
            <a:ext cx="6317962" cy="45303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We need now to </a:t>
            </a:r>
            <a:r>
              <a:rPr lang="en-GB" b="1" dirty="0"/>
              <a:t>compile the model</a:t>
            </a:r>
            <a:r>
              <a:rPr lang="en-GB" dirty="0"/>
              <a:t>. This means that we must provide the following information:</a:t>
            </a:r>
          </a:p>
          <a:p>
            <a:pPr marL="0" indent="0">
              <a:buNone/>
            </a:pPr>
            <a:endParaRPr lang="en-GB" dirty="0"/>
          </a:p>
          <a:p>
            <a:pPr marL="0" indent="0">
              <a:buNone/>
            </a:pPr>
            <a:endParaRPr lang="en-GB" dirty="0"/>
          </a:p>
          <a:p>
            <a:pPr>
              <a:buFont typeface="Wingdings" panose="05000000000000000000" pitchFamily="2" charset="2"/>
              <a:buChar char="Ø"/>
            </a:pPr>
            <a:endParaRPr lang="en-GB" dirty="0"/>
          </a:p>
          <a:p>
            <a:pPr>
              <a:buFont typeface="Wingdings" panose="05000000000000000000" pitchFamily="2" charset="2"/>
              <a:buChar char="Ø"/>
            </a:pPr>
            <a:endParaRPr lang="en-GB" dirty="0"/>
          </a:p>
        </p:txBody>
      </p:sp>
      <p:pic>
        <p:nvPicPr>
          <p:cNvPr id="3" name="Immagine 2">
            <a:extLst>
              <a:ext uri="{FF2B5EF4-FFF2-40B4-BE49-F238E27FC236}">
                <a16:creationId xmlns:a16="http://schemas.microsoft.com/office/drawing/2014/main" id="{8644AEA9-229E-1D79-8A82-170DE858CE13}"/>
              </a:ext>
            </a:extLst>
          </p:cNvPr>
          <p:cNvPicPr>
            <a:picLocks noChangeAspect="1"/>
          </p:cNvPicPr>
          <p:nvPr/>
        </p:nvPicPr>
        <p:blipFill>
          <a:blip r:embed="rId2"/>
          <a:stretch>
            <a:fillRect/>
          </a:stretch>
        </p:blipFill>
        <p:spPr>
          <a:xfrm>
            <a:off x="544657" y="2535674"/>
            <a:ext cx="5715933" cy="1195047"/>
          </a:xfrm>
          <a:prstGeom prst="rect">
            <a:avLst/>
          </a:prstGeom>
        </p:spPr>
      </p:pic>
      <p:pic>
        <p:nvPicPr>
          <p:cNvPr id="6" name="Immagine 5">
            <a:extLst>
              <a:ext uri="{FF2B5EF4-FFF2-40B4-BE49-F238E27FC236}">
                <a16:creationId xmlns:a16="http://schemas.microsoft.com/office/drawing/2014/main" id="{C325B144-3C32-046B-05AD-2E42099A8D88}"/>
              </a:ext>
            </a:extLst>
          </p:cNvPr>
          <p:cNvPicPr>
            <a:picLocks noChangeAspect="1"/>
          </p:cNvPicPr>
          <p:nvPr/>
        </p:nvPicPr>
        <p:blipFill>
          <a:blip r:embed="rId3"/>
          <a:stretch>
            <a:fillRect/>
          </a:stretch>
        </p:blipFill>
        <p:spPr>
          <a:xfrm>
            <a:off x="544657" y="3844399"/>
            <a:ext cx="8614879" cy="2847733"/>
          </a:xfrm>
          <a:prstGeom prst="rect">
            <a:avLst/>
          </a:prstGeom>
        </p:spPr>
      </p:pic>
      <p:sp>
        <p:nvSpPr>
          <p:cNvPr id="8" name="CasellaDiTesto 7">
            <a:extLst>
              <a:ext uri="{FF2B5EF4-FFF2-40B4-BE49-F238E27FC236}">
                <a16:creationId xmlns:a16="http://schemas.microsoft.com/office/drawing/2014/main" id="{620712C5-0E9E-1F9A-A0B7-B17FC34FEEC2}"/>
              </a:ext>
            </a:extLst>
          </p:cNvPr>
          <p:cNvSpPr txBox="1"/>
          <p:nvPr/>
        </p:nvSpPr>
        <p:spPr>
          <a:xfrm>
            <a:off x="6622473" y="2671532"/>
            <a:ext cx="7315200" cy="923330"/>
          </a:xfrm>
          <a:prstGeom prst="rect">
            <a:avLst/>
          </a:prstGeom>
          <a:noFill/>
        </p:spPr>
        <p:txBody>
          <a:bodyPr wrap="square">
            <a:spAutoFit/>
          </a:bodyPr>
          <a:lstStyle/>
          <a:p>
            <a:pPr>
              <a:buFont typeface="Wingdings" panose="05000000000000000000" pitchFamily="2" charset="2"/>
              <a:buChar char="Ø"/>
            </a:pPr>
            <a:r>
              <a:rPr lang="en-GB" b="1" dirty="0"/>
              <a:t>Optimizer</a:t>
            </a:r>
            <a:r>
              <a:rPr lang="en-GB" dirty="0"/>
              <a:t>: Adam (to solve the gradient descent)</a:t>
            </a:r>
          </a:p>
          <a:p>
            <a:pPr>
              <a:buFont typeface="Wingdings" panose="05000000000000000000" pitchFamily="2" charset="2"/>
              <a:buChar char="Ø"/>
            </a:pPr>
            <a:r>
              <a:rPr lang="en-GB" b="1" dirty="0"/>
              <a:t>Loss function</a:t>
            </a:r>
            <a:r>
              <a:rPr lang="en-GB" dirty="0"/>
              <a:t>: mean square error</a:t>
            </a:r>
          </a:p>
          <a:p>
            <a:pPr>
              <a:buFont typeface="Wingdings" panose="05000000000000000000" pitchFamily="2" charset="2"/>
              <a:buChar char="Ø"/>
            </a:pPr>
            <a:r>
              <a:rPr lang="en-GB" b="1" dirty="0"/>
              <a:t>Learning rate</a:t>
            </a:r>
            <a:r>
              <a:rPr lang="en-GB" dirty="0"/>
              <a:t>: 0.001</a:t>
            </a:r>
          </a:p>
        </p:txBody>
      </p:sp>
    </p:spTree>
    <p:extLst>
      <p:ext uri="{BB962C8B-B14F-4D97-AF65-F5344CB8AC3E}">
        <p14:creationId xmlns:p14="http://schemas.microsoft.com/office/powerpoint/2010/main" val="48668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4774E2F-5AD0-EAE5-0F5B-65B42DB0C8BF}"/>
              </a:ext>
            </a:extLst>
          </p:cNvPr>
          <p:cNvSpPr>
            <a:spLocks noGrp="1"/>
          </p:cNvSpPr>
          <p:nvPr>
            <p:ph type="title"/>
          </p:nvPr>
        </p:nvSpPr>
        <p:spPr/>
        <p:txBody>
          <a:bodyPr/>
          <a:lstStyle/>
          <a:p>
            <a:r>
              <a:rPr lang="en-GB" dirty="0"/>
              <a:t>4. Train the neural network</a:t>
            </a:r>
          </a:p>
        </p:txBody>
      </p:sp>
      <p:sp>
        <p:nvSpPr>
          <p:cNvPr id="6" name="Segnaposto contenuto 2">
            <a:extLst>
              <a:ext uri="{FF2B5EF4-FFF2-40B4-BE49-F238E27FC236}">
                <a16:creationId xmlns:a16="http://schemas.microsoft.com/office/drawing/2014/main" id="{FEAB78A8-DC15-ECB8-ED8C-C0AA5A89040C}"/>
              </a:ext>
            </a:extLst>
          </p:cNvPr>
          <p:cNvSpPr txBox="1">
            <a:spLocks/>
          </p:cNvSpPr>
          <p:nvPr/>
        </p:nvSpPr>
        <p:spPr>
          <a:xfrm>
            <a:off x="304511" y="1777378"/>
            <a:ext cx="6317962" cy="45303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The last step is to </a:t>
            </a:r>
            <a:r>
              <a:rPr lang="en-GB" b="1" dirty="0"/>
              <a:t>train the neural network</a:t>
            </a:r>
            <a:r>
              <a:rPr lang="en-GB" dirty="0"/>
              <a:t>.</a:t>
            </a:r>
          </a:p>
          <a:p>
            <a:pPr marL="0" indent="0">
              <a:buNone/>
            </a:pPr>
            <a:endParaRPr lang="en-GB" dirty="0"/>
          </a:p>
          <a:p>
            <a:pPr>
              <a:buFont typeface="Wingdings" panose="05000000000000000000" pitchFamily="2" charset="2"/>
              <a:buChar char="Ø"/>
            </a:pPr>
            <a:r>
              <a:rPr lang="en-GB" dirty="0"/>
              <a:t>We need to provide the following information:</a:t>
            </a:r>
          </a:p>
          <a:p>
            <a:pPr lvl="1">
              <a:buFont typeface="Wingdings" panose="05000000000000000000" pitchFamily="2" charset="2"/>
              <a:buChar char="Ø"/>
            </a:pPr>
            <a:r>
              <a:rPr lang="en-GB" b="1" dirty="0"/>
              <a:t>Inputs</a:t>
            </a:r>
            <a:r>
              <a:rPr lang="en-GB" dirty="0"/>
              <a:t> (from pre-processing)</a:t>
            </a:r>
          </a:p>
          <a:p>
            <a:pPr lvl="1">
              <a:buFont typeface="Wingdings" panose="05000000000000000000" pitchFamily="2" charset="2"/>
              <a:buChar char="Ø"/>
            </a:pPr>
            <a:r>
              <a:rPr lang="en-GB" b="1" dirty="0"/>
              <a:t>Epochs</a:t>
            </a:r>
            <a:r>
              <a:rPr lang="en-GB" dirty="0"/>
              <a:t>: how many times we must process the dataset</a:t>
            </a:r>
          </a:p>
          <a:p>
            <a:pPr lvl="1">
              <a:buFont typeface="Wingdings" panose="05000000000000000000" pitchFamily="2" charset="2"/>
              <a:buChar char="Ø"/>
            </a:pPr>
            <a:r>
              <a:rPr lang="en-GB" b="1" dirty="0"/>
              <a:t>Batch size</a:t>
            </a:r>
            <a:r>
              <a:rPr lang="en-GB" dirty="0"/>
              <a:t>: how many instances provided at the same time</a:t>
            </a:r>
          </a:p>
          <a:p>
            <a:pPr>
              <a:buFont typeface="Wingdings" panose="05000000000000000000" pitchFamily="2" charset="2"/>
              <a:buChar char="Ø"/>
            </a:pPr>
            <a:endParaRPr lang="en-GB" dirty="0"/>
          </a:p>
          <a:p>
            <a:pPr>
              <a:buFont typeface="Wingdings" panose="05000000000000000000" pitchFamily="2" charset="2"/>
              <a:buChar char="Ø"/>
            </a:pPr>
            <a:endParaRPr lang="en-GB" dirty="0"/>
          </a:p>
        </p:txBody>
      </p:sp>
      <p:pic>
        <p:nvPicPr>
          <p:cNvPr id="13" name="Picture 2" descr="Gradient Ascent">
            <a:extLst>
              <a:ext uri="{FF2B5EF4-FFF2-40B4-BE49-F238E27FC236}">
                <a16:creationId xmlns:a16="http://schemas.microsoft.com/office/drawing/2014/main" id="{D8230227-091C-08F5-C32C-E4775E0469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9018" y="2418265"/>
            <a:ext cx="4247429" cy="2636335"/>
          </a:xfrm>
          <a:prstGeom prst="rect">
            <a:avLst/>
          </a:prstGeom>
          <a:noFill/>
          <a:ln w="19050">
            <a:solidFill>
              <a:schemeClr val="accent1"/>
            </a:solidFill>
          </a:ln>
          <a:extLst>
            <a:ext uri="{909E8E84-426E-40DD-AFC4-6F175D3DCCD1}">
              <a14:hiddenFill xmlns:a14="http://schemas.microsoft.com/office/drawing/2010/main">
                <a:solidFill>
                  <a:srgbClr val="FFFFFF"/>
                </a:solidFill>
              </a14:hiddenFill>
            </a:ext>
          </a:extLst>
        </p:spPr>
      </p:pic>
      <p:sp>
        <p:nvSpPr>
          <p:cNvPr id="14" name="Segnaposto contenuto 2">
            <a:extLst>
              <a:ext uri="{FF2B5EF4-FFF2-40B4-BE49-F238E27FC236}">
                <a16:creationId xmlns:a16="http://schemas.microsoft.com/office/drawing/2014/main" id="{086EEB08-57E1-DAC2-CE49-3040BAB2F83A}"/>
              </a:ext>
            </a:extLst>
          </p:cNvPr>
          <p:cNvSpPr txBox="1">
            <a:spLocks/>
          </p:cNvSpPr>
          <p:nvPr/>
        </p:nvSpPr>
        <p:spPr>
          <a:xfrm>
            <a:off x="8304619" y="2100840"/>
            <a:ext cx="2176226" cy="317425"/>
          </a:xfrm>
          <a:prstGeom prst="rect">
            <a:avLst/>
          </a:prstGeom>
          <a:ln w="19050">
            <a:solidFill>
              <a:schemeClr val="accent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dirty="0"/>
              <a:t>Gradient descent</a:t>
            </a:r>
          </a:p>
        </p:txBody>
      </p:sp>
      <p:pic>
        <p:nvPicPr>
          <p:cNvPr id="12" name="Immagine 11">
            <a:extLst>
              <a:ext uri="{FF2B5EF4-FFF2-40B4-BE49-F238E27FC236}">
                <a16:creationId xmlns:a16="http://schemas.microsoft.com/office/drawing/2014/main" id="{1087B7D7-E905-DC20-13CB-65FA71082B8F}"/>
              </a:ext>
            </a:extLst>
          </p:cNvPr>
          <p:cNvPicPr>
            <a:picLocks noChangeAspect="1"/>
          </p:cNvPicPr>
          <p:nvPr/>
        </p:nvPicPr>
        <p:blipFill>
          <a:blip r:embed="rId3"/>
          <a:stretch>
            <a:fillRect/>
          </a:stretch>
        </p:blipFill>
        <p:spPr>
          <a:xfrm>
            <a:off x="1290177" y="4135846"/>
            <a:ext cx="4140804" cy="2171834"/>
          </a:xfrm>
          <a:prstGeom prst="rect">
            <a:avLst/>
          </a:prstGeom>
        </p:spPr>
      </p:pic>
    </p:spTree>
    <p:extLst>
      <p:ext uri="{BB962C8B-B14F-4D97-AF65-F5344CB8AC3E}">
        <p14:creationId xmlns:p14="http://schemas.microsoft.com/office/powerpoint/2010/main" val="26227707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1332426-BDF3-70B0-CC93-7B0E27037023}"/>
              </a:ext>
            </a:extLst>
          </p:cNvPr>
          <p:cNvSpPr>
            <a:spLocks noGrp="1"/>
          </p:cNvSpPr>
          <p:nvPr>
            <p:ph type="title"/>
          </p:nvPr>
        </p:nvSpPr>
        <p:spPr/>
        <p:txBody>
          <a:bodyPr/>
          <a:lstStyle/>
          <a:p>
            <a:r>
              <a:rPr lang="en-GB" dirty="0"/>
              <a:t>Be aware of overfitting</a:t>
            </a:r>
          </a:p>
        </p:txBody>
      </p:sp>
      <p:pic>
        <p:nvPicPr>
          <p:cNvPr id="5" name="Immagine 4" descr="Immagine che contiene testo, linea, Diagramma, diagramma&#10;&#10;Descrizione generata automaticamente">
            <a:extLst>
              <a:ext uri="{FF2B5EF4-FFF2-40B4-BE49-F238E27FC236}">
                <a16:creationId xmlns:a16="http://schemas.microsoft.com/office/drawing/2014/main" id="{6FA9F431-D7BD-A547-CD1C-5DA221C4154E}"/>
              </a:ext>
            </a:extLst>
          </p:cNvPr>
          <p:cNvPicPr>
            <a:picLocks noChangeAspect="1"/>
          </p:cNvPicPr>
          <p:nvPr/>
        </p:nvPicPr>
        <p:blipFill>
          <a:blip r:embed="rId2"/>
          <a:stretch>
            <a:fillRect/>
          </a:stretch>
        </p:blipFill>
        <p:spPr>
          <a:xfrm>
            <a:off x="876652" y="3517898"/>
            <a:ext cx="4996880" cy="3123050"/>
          </a:xfrm>
          <a:prstGeom prst="rect">
            <a:avLst/>
          </a:prstGeom>
        </p:spPr>
      </p:pic>
      <p:pic>
        <p:nvPicPr>
          <p:cNvPr id="7" name="Immagine 6" descr="Immagine che contiene testo, Diagramma, linea, diagramma&#10;&#10;Descrizione generata automaticamente">
            <a:extLst>
              <a:ext uri="{FF2B5EF4-FFF2-40B4-BE49-F238E27FC236}">
                <a16:creationId xmlns:a16="http://schemas.microsoft.com/office/drawing/2014/main" id="{55273FC9-DC9E-75B6-056A-721057F6ACC1}"/>
              </a:ext>
            </a:extLst>
          </p:cNvPr>
          <p:cNvPicPr>
            <a:picLocks noChangeAspect="1"/>
          </p:cNvPicPr>
          <p:nvPr/>
        </p:nvPicPr>
        <p:blipFill>
          <a:blip r:embed="rId3"/>
          <a:stretch>
            <a:fillRect/>
          </a:stretch>
        </p:blipFill>
        <p:spPr>
          <a:xfrm>
            <a:off x="6132150" y="3517898"/>
            <a:ext cx="4996880" cy="3123050"/>
          </a:xfrm>
          <a:prstGeom prst="rect">
            <a:avLst/>
          </a:prstGeom>
        </p:spPr>
      </p:pic>
      <p:sp>
        <p:nvSpPr>
          <p:cNvPr id="3" name="Segnaposto contenuto 2">
            <a:extLst>
              <a:ext uri="{FF2B5EF4-FFF2-40B4-BE49-F238E27FC236}">
                <a16:creationId xmlns:a16="http://schemas.microsoft.com/office/drawing/2014/main" id="{DAAB7531-F796-1C58-8C53-FFB9248A8AD9}"/>
              </a:ext>
            </a:extLst>
          </p:cNvPr>
          <p:cNvSpPr>
            <a:spLocks noGrp="1"/>
          </p:cNvSpPr>
          <p:nvPr>
            <p:ph idx="1"/>
          </p:nvPr>
        </p:nvSpPr>
        <p:spPr/>
        <p:txBody>
          <a:bodyPr/>
          <a:lstStyle/>
          <a:p>
            <a:pPr>
              <a:buFont typeface="Wingdings" panose="05000000000000000000" pitchFamily="2" charset="2"/>
              <a:buChar char="Ø"/>
            </a:pPr>
            <a:r>
              <a:rPr lang="en-GB" b="1" dirty="0"/>
              <a:t>Overfitting</a:t>
            </a:r>
            <a:r>
              <a:rPr lang="en-GB" dirty="0"/>
              <a:t> occurs when a neural network learns the details and noise in the training data to such an extent that it </a:t>
            </a:r>
            <a:r>
              <a:rPr lang="en-GB" b="1" dirty="0"/>
              <a:t>performs poorly on new, unseen data</a:t>
            </a:r>
            <a:r>
              <a:rPr lang="en-GB" dirty="0"/>
              <a:t>.</a:t>
            </a:r>
          </a:p>
          <a:p>
            <a:pPr>
              <a:buFont typeface="Wingdings" panose="05000000000000000000" pitchFamily="2" charset="2"/>
              <a:buChar char="Ø"/>
            </a:pPr>
            <a:r>
              <a:rPr lang="en-GB" dirty="0"/>
              <a:t>Instead of generalizing to capture the underlying patterns in the data, </a:t>
            </a:r>
            <a:r>
              <a:rPr lang="en-GB" b="1" dirty="0"/>
              <a:t>the model becomes overly specialized to the training dataset</a:t>
            </a:r>
            <a:r>
              <a:rPr lang="en-GB" dirty="0"/>
              <a:t>, resulting in high accuracy on the training data but poor performance on validation or test datasets.</a:t>
            </a:r>
          </a:p>
          <a:p>
            <a:pPr>
              <a:buFont typeface="Wingdings" panose="05000000000000000000" pitchFamily="2" charset="2"/>
              <a:buChar char="Ø"/>
            </a:pPr>
            <a:r>
              <a:rPr lang="en-GB" dirty="0"/>
              <a:t>Overfitting can be caused by </a:t>
            </a:r>
            <a:r>
              <a:rPr lang="en-GB" b="1" dirty="0"/>
              <a:t>training for too long </a:t>
            </a:r>
            <a:r>
              <a:rPr lang="en-GB" dirty="0"/>
              <a:t>(too many epochs!)</a:t>
            </a:r>
          </a:p>
        </p:txBody>
      </p:sp>
    </p:spTree>
    <p:extLst>
      <p:ext uri="{BB962C8B-B14F-4D97-AF65-F5344CB8AC3E}">
        <p14:creationId xmlns:p14="http://schemas.microsoft.com/office/powerpoint/2010/main" val="6484126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F688EFE-612E-EDA3-5AB8-13AF95724B2D}"/>
              </a:ext>
            </a:extLst>
          </p:cNvPr>
          <p:cNvSpPr>
            <a:spLocks noGrp="1"/>
          </p:cNvSpPr>
          <p:nvPr>
            <p:ph type="title"/>
          </p:nvPr>
        </p:nvSpPr>
        <p:spPr/>
        <p:txBody>
          <a:bodyPr/>
          <a:lstStyle/>
          <a:p>
            <a:r>
              <a:rPr lang="en-GB" dirty="0"/>
              <a:t>Good luck with your implementation!</a:t>
            </a:r>
          </a:p>
        </p:txBody>
      </p:sp>
      <p:sp>
        <p:nvSpPr>
          <p:cNvPr id="3" name="Segnaposto contenuto 2">
            <a:extLst>
              <a:ext uri="{FF2B5EF4-FFF2-40B4-BE49-F238E27FC236}">
                <a16:creationId xmlns:a16="http://schemas.microsoft.com/office/drawing/2014/main" id="{B1C01EE8-EA01-5250-6D35-8456EC372C16}"/>
              </a:ext>
            </a:extLst>
          </p:cNvPr>
          <p:cNvSpPr>
            <a:spLocks noGrp="1"/>
          </p:cNvSpPr>
          <p:nvPr>
            <p:ph idx="1"/>
          </p:nvPr>
        </p:nvSpPr>
        <p:spPr/>
        <p:txBody>
          <a:bodyPr/>
          <a:lstStyle/>
          <a:p>
            <a:pPr>
              <a:buFont typeface="Wingdings" panose="05000000000000000000" pitchFamily="2" charset="2"/>
              <a:buChar char="Ø"/>
            </a:pPr>
            <a:r>
              <a:rPr lang="en-GB" dirty="0"/>
              <a:t>Later you will perform the previous steps in Grasshopper to implement a neural network able to compute the reverberation time.</a:t>
            </a:r>
          </a:p>
          <a:p>
            <a:pPr>
              <a:buFont typeface="Wingdings" panose="05000000000000000000" pitchFamily="2" charset="2"/>
              <a:buChar char="Ø"/>
            </a:pPr>
            <a:r>
              <a:rPr lang="en-GB" dirty="0"/>
              <a:t>Download this presentation from the repository and check the details of the implementation.</a:t>
            </a:r>
          </a:p>
          <a:p>
            <a:pPr marL="0" indent="0">
              <a:buNone/>
            </a:pPr>
            <a:endParaRPr lang="en-GB" dirty="0"/>
          </a:p>
          <a:p>
            <a:pPr marL="0" indent="0">
              <a:buNone/>
            </a:pPr>
            <a:r>
              <a:rPr lang="en-GB" b="1" dirty="0"/>
              <a:t>Thanks for your kind attention! </a:t>
            </a:r>
          </a:p>
          <a:p>
            <a:pPr marL="0" indent="0">
              <a:buNone/>
            </a:pPr>
            <a:r>
              <a:rPr lang="en-GB" dirty="0"/>
              <a:t>If you have additional questions, </a:t>
            </a:r>
            <a:r>
              <a:rPr lang="en-GB" b="1" dirty="0"/>
              <a:t>ask me</a:t>
            </a:r>
            <a:r>
              <a:rPr lang="en-GB" dirty="0"/>
              <a:t>, or send me an email at </a:t>
            </a:r>
            <a:r>
              <a:rPr lang="en-GB" dirty="0">
                <a:hlinkClick r:id="rId2"/>
              </a:rPr>
              <a:t>laudato@kth.se</a:t>
            </a:r>
            <a:r>
              <a:rPr lang="en-GB" dirty="0"/>
              <a:t> .</a:t>
            </a:r>
          </a:p>
          <a:p>
            <a:pPr marL="0" indent="0">
              <a:buNone/>
            </a:pPr>
            <a:endParaRPr lang="en-GB" dirty="0"/>
          </a:p>
          <a:p>
            <a:pPr marL="0" indent="0">
              <a:buNone/>
            </a:pPr>
            <a:r>
              <a:rPr lang="en-GB" dirty="0"/>
              <a:t>Ciao!</a:t>
            </a:r>
          </a:p>
          <a:p>
            <a:pPr>
              <a:buFont typeface="Wingdings" panose="05000000000000000000" pitchFamily="2" charset="2"/>
              <a:buChar char="Ø"/>
            </a:pPr>
            <a:endParaRPr lang="en-GB" dirty="0"/>
          </a:p>
        </p:txBody>
      </p:sp>
      <p:pic>
        <p:nvPicPr>
          <p:cNvPr id="6" name="Immagine 5">
            <a:extLst>
              <a:ext uri="{FF2B5EF4-FFF2-40B4-BE49-F238E27FC236}">
                <a16:creationId xmlns:a16="http://schemas.microsoft.com/office/drawing/2014/main" id="{AED1ACB9-2606-B664-AEB7-0AE88C69AF40}"/>
              </a:ext>
            </a:extLst>
          </p:cNvPr>
          <p:cNvPicPr>
            <a:picLocks noChangeAspect="1"/>
          </p:cNvPicPr>
          <p:nvPr/>
        </p:nvPicPr>
        <p:blipFill>
          <a:blip r:embed="rId3"/>
          <a:stretch>
            <a:fillRect/>
          </a:stretch>
        </p:blipFill>
        <p:spPr>
          <a:xfrm>
            <a:off x="2526597" y="4066636"/>
            <a:ext cx="8279949" cy="2648190"/>
          </a:xfrm>
          <a:prstGeom prst="rect">
            <a:avLst/>
          </a:prstGeom>
        </p:spPr>
      </p:pic>
    </p:spTree>
    <p:extLst>
      <p:ext uri="{BB962C8B-B14F-4D97-AF65-F5344CB8AC3E}">
        <p14:creationId xmlns:p14="http://schemas.microsoft.com/office/powerpoint/2010/main" val="11265653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05C2050-7A87-0FC7-A5D4-D3DFA8CEF041}"/>
              </a:ext>
            </a:extLst>
          </p:cNvPr>
          <p:cNvSpPr>
            <a:spLocks noGrp="1"/>
          </p:cNvSpPr>
          <p:nvPr>
            <p:ph type="title"/>
          </p:nvPr>
        </p:nvSpPr>
        <p:spPr/>
        <p:txBody>
          <a:bodyPr/>
          <a:lstStyle/>
          <a:p>
            <a:r>
              <a:rPr lang="en-GB" dirty="0"/>
              <a:t>Physics-Informed Neural Network (PINN)</a:t>
            </a:r>
          </a:p>
        </p:txBody>
      </p:sp>
      <p:sp>
        <p:nvSpPr>
          <p:cNvPr id="3" name="Segnaposto contenuto 2">
            <a:extLst>
              <a:ext uri="{FF2B5EF4-FFF2-40B4-BE49-F238E27FC236}">
                <a16:creationId xmlns:a16="http://schemas.microsoft.com/office/drawing/2014/main" id="{61A10F85-7065-124C-8DFA-AAD7A9D8B025}"/>
              </a:ext>
            </a:extLst>
          </p:cNvPr>
          <p:cNvSpPr>
            <a:spLocks noGrp="1"/>
          </p:cNvSpPr>
          <p:nvPr>
            <p:ph idx="1"/>
          </p:nvPr>
        </p:nvSpPr>
        <p:spPr>
          <a:xfrm>
            <a:off x="600075" y="2150843"/>
            <a:ext cx="4638818" cy="4530302"/>
          </a:xfrm>
        </p:spPr>
        <p:txBody>
          <a:bodyPr/>
          <a:lstStyle/>
          <a:p>
            <a:pPr>
              <a:buFont typeface="Wingdings" panose="05000000000000000000" pitchFamily="2" charset="2"/>
              <a:buChar char="Ø"/>
            </a:pPr>
            <a:r>
              <a:rPr lang="en-GB" dirty="0"/>
              <a:t>Physics-Informed Neural Networks (PINNs) are a type of neural network that incorporates physical laws and equations into the learning process. </a:t>
            </a:r>
          </a:p>
          <a:p>
            <a:pPr>
              <a:buFont typeface="Wingdings" panose="05000000000000000000" pitchFamily="2" charset="2"/>
              <a:buChar char="Ø"/>
            </a:pPr>
            <a:r>
              <a:rPr lang="en-GB" dirty="0"/>
              <a:t>Other kinds of NN </a:t>
            </a:r>
            <a:r>
              <a:rPr lang="en-GB" u="sng" dirty="0"/>
              <a:t>do not know the physics</a:t>
            </a:r>
            <a:r>
              <a:rPr lang="en-GB" dirty="0"/>
              <a:t> of the process they are learning!</a:t>
            </a:r>
          </a:p>
          <a:p>
            <a:pPr>
              <a:buFont typeface="Wingdings" panose="05000000000000000000" pitchFamily="2" charset="2"/>
              <a:buChar char="Ø"/>
            </a:pPr>
            <a:r>
              <a:rPr lang="en-GB" dirty="0"/>
              <a:t>Implemented as a FNN (easy!)</a:t>
            </a:r>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a:buFont typeface="Wingdings" panose="05000000000000000000" pitchFamily="2" charset="2"/>
              <a:buChar char="Ø"/>
            </a:pPr>
            <a:r>
              <a:rPr lang="en-GB" dirty="0">
                <a:solidFill>
                  <a:srgbClr val="FF0000"/>
                </a:solidFill>
              </a:rPr>
              <a:t>MAIN IDEA</a:t>
            </a:r>
            <a:r>
              <a:rPr lang="en-GB" dirty="0"/>
              <a:t>: NN can approximate functions. We can require these functions to solve a PDE.</a:t>
            </a:r>
          </a:p>
          <a:p>
            <a:pPr>
              <a:buFont typeface="Wingdings" panose="05000000000000000000" pitchFamily="2" charset="2"/>
              <a:buChar char="Ø"/>
            </a:pPr>
            <a:endParaRPr lang="en-GB" dirty="0"/>
          </a:p>
          <a:p>
            <a:pPr>
              <a:buFont typeface="Wingdings" panose="05000000000000000000" pitchFamily="2" charset="2"/>
              <a:buChar char="Ø"/>
            </a:pPr>
            <a:endParaRPr lang="en-GB" dirty="0"/>
          </a:p>
        </p:txBody>
      </p:sp>
      <p:pic>
        <p:nvPicPr>
          <p:cNvPr id="1026" name="Picture 2" descr="Physics-informed machine learning | Nature Reviews Physics">
            <a:extLst>
              <a:ext uri="{FF2B5EF4-FFF2-40B4-BE49-F238E27FC236}">
                <a16:creationId xmlns:a16="http://schemas.microsoft.com/office/drawing/2014/main" id="{2070D201-E663-B665-2A00-C4859E69CD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5450" y="2150843"/>
            <a:ext cx="6141691" cy="3961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9562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381652DF-4256-5065-FBE3-B9951E1E09E6}"/>
              </a:ext>
            </a:extLst>
          </p:cNvPr>
          <p:cNvSpPr>
            <a:spLocks noGrp="1"/>
          </p:cNvSpPr>
          <p:nvPr>
            <p:ph idx="1"/>
          </p:nvPr>
        </p:nvSpPr>
        <p:spPr>
          <a:xfrm>
            <a:off x="369166" y="1806448"/>
            <a:ext cx="10990263" cy="4530302"/>
          </a:xfrm>
        </p:spPr>
        <p:txBody>
          <a:bodyPr/>
          <a:lstStyle/>
          <a:p>
            <a:pPr>
              <a:buFont typeface="Wingdings" panose="05000000000000000000" pitchFamily="2" charset="2"/>
              <a:buChar char="Ø"/>
            </a:pPr>
            <a:r>
              <a:rPr lang="en-GB" dirty="0"/>
              <a:t>1D Wave Equation:</a:t>
            </a:r>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marL="0" indent="0">
              <a:buNone/>
            </a:pPr>
            <a:endParaRPr lang="en-GB" dirty="0"/>
          </a:p>
          <a:p>
            <a:pPr>
              <a:buFont typeface="Wingdings" panose="05000000000000000000" pitchFamily="2" charset="2"/>
              <a:buChar char="Ø"/>
            </a:pPr>
            <a:r>
              <a:rPr lang="en-GB" dirty="0"/>
              <a:t>The function </a:t>
            </a:r>
            <a:r>
              <a:rPr lang="en-GB" i="1" dirty="0"/>
              <a:t>u(</a:t>
            </a:r>
            <a:r>
              <a:rPr lang="en-GB" i="1" dirty="0" err="1"/>
              <a:t>x,t</a:t>
            </a:r>
            <a:r>
              <a:rPr lang="en-GB" i="1" dirty="0"/>
              <a:t>) </a:t>
            </a:r>
            <a:r>
              <a:rPr lang="en-GB" dirty="0"/>
              <a:t>is the displacement of the string</a:t>
            </a:r>
          </a:p>
          <a:p>
            <a:pPr>
              <a:buFont typeface="Wingdings" panose="05000000000000000000" pitchFamily="2" charset="2"/>
              <a:buChar char="Ø"/>
            </a:pPr>
            <a:endParaRPr lang="en-GB" dirty="0"/>
          </a:p>
          <a:p>
            <a:pPr>
              <a:buFont typeface="Wingdings" panose="05000000000000000000" pitchFamily="2" charset="2"/>
              <a:buChar char="Ø"/>
            </a:pPr>
            <a:r>
              <a:rPr lang="en-GB" dirty="0"/>
              <a:t>The FNN yields </a:t>
            </a:r>
            <a:r>
              <a:rPr lang="en-GB" i="1" dirty="0"/>
              <a:t>u(</a:t>
            </a:r>
            <a:r>
              <a:rPr lang="en-GB" i="1" dirty="0" err="1"/>
              <a:t>x,t</a:t>
            </a:r>
            <a:r>
              <a:rPr lang="en-GB" i="1" dirty="0"/>
              <a:t>)</a:t>
            </a:r>
          </a:p>
          <a:p>
            <a:pPr>
              <a:buFont typeface="Wingdings" panose="05000000000000000000" pitchFamily="2" charset="2"/>
              <a:buChar char="Ø"/>
            </a:pPr>
            <a:endParaRPr lang="en-GB" dirty="0"/>
          </a:p>
          <a:p>
            <a:pPr>
              <a:buFont typeface="Wingdings" panose="05000000000000000000" pitchFamily="2" charset="2"/>
              <a:buChar char="Ø"/>
            </a:pPr>
            <a:r>
              <a:rPr lang="en-GB" dirty="0"/>
              <a:t>The loss function enforces the wave function</a:t>
            </a:r>
          </a:p>
          <a:p>
            <a:pPr>
              <a:buFont typeface="Wingdings" panose="05000000000000000000" pitchFamily="2" charset="2"/>
              <a:buChar char="Ø"/>
            </a:pPr>
            <a:endParaRPr lang="en-GB" dirty="0"/>
          </a:p>
          <a:p>
            <a:pPr>
              <a:buFont typeface="Wingdings" panose="05000000000000000000" pitchFamily="2" charset="2"/>
              <a:buChar char="Ø"/>
            </a:pPr>
            <a:r>
              <a:rPr lang="en-GB" dirty="0"/>
              <a:t>We will see more in the practical module!</a:t>
            </a:r>
          </a:p>
        </p:txBody>
      </p:sp>
      <p:sp>
        <p:nvSpPr>
          <p:cNvPr id="2" name="Titolo 1">
            <a:extLst>
              <a:ext uri="{FF2B5EF4-FFF2-40B4-BE49-F238E27FC236}">
                <a16:creationId xmlns:a16="http://schemas.microsoft.com/office/drawing/2014/main" id="{2D8FE6C3-235D-3F9E-1332-6969DF363B85}"/>
              </a:ext>
            </a:extLst>
          </p:cNvPr>
          <p:cNvSpPr>
            <a:spLocks noGrp="1"/>
          </p:cNvSpPr>
          <p:nvPr>
            <p:ph type="title"/>
          </p:nvPr>
        </p:nvSpPr>
        <p:spPr/>
        <p:txBody>
          <a:bodyPr/>
          <a:lstStyle/>
          <a:p>
            <a:r>
              <a:rPr lang="en-GB" dirty="0"/>
              <a:t>Example: 1D Wave Equation</a:t>
            </a:r>
          </a:p>
        </p:txBody>
      </p:sp>
      <p:pic>
        <p:nvPicPr>
          <p:cNvPr id="8" name="Elemento grafico 7">
            <a:extLst>
              <a:ext uri="{FF2B5EF4-FFF2-40B4-BE49-F238E27FC236}">
                <a16:creationId xmlns:a16="http://schemas.microsoft.com/office/drawing/2014/main" id="{7AF704FD-9F69-0D79-EA49-16B16F42AF3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94270" y="2344187"/>
            <a:ext cx="3197804" cy="990869"/>
          </a:xfrm>
          <a:prstGeom prst="rect">
            <a:avLst/>
          </a:prstGeom>
        </p:spPr>
      </p:pic>
      <p:pic>
        <p:nvPicPr>
          <p:cNvPr id="10" name="Immagine 9" descr="Immagine che contiene testo, diagramma, Diagramma, linea&#10;&#10;Descrizione generata automaticamente">
            <a:extLst>
              <a:ext uri="{FF2B5EF4-FFF2-40B4-BE49-F238E27FC236}">
                <a16:creationId xmlns:a16="http://schemas.microsoft.com/office/drawing/2014/main" id="{954699F0-3E76-3D51-065F-83361C2A9594}"/>
              </a:ext>
            </a:extLst>
          </p:cNvPr>
          <p:cNvPicPr>
            <a:picLocks noChangeAspect="1"/>
          </p:cNvPicPr>
          <p:nvPr/>
        </p:nvPicPr>
        <p:blipFill rotWithShape="1">
          <a:blip r:embed="rId4"/>
          <a:srcRect l="2899" t="6692" r="8615" b="5025"/>
          <a:stretch/>
        </p:blipFill>
        <p:spPr>
          <a:xfrm>
            <a:off x="6437744" y="1664044"/>
            <a:ext cx="5568230" cy="4166639"/>
          </a:xfrm>
          <a:prstGeom prst="rect">
            <a:avLst/>
          </a:prstGeom>
        </p:spPr>
      </p:pic>
    </p:spTree>
    <p:extLst>
      <p:ext uri="{BB962C8B-B14F-4D97-AF65-F5344CB8AC3E}">
        <p14:creationId xmlns:p14="http://schemas.microsoft.com/office/powerpoint/2010/main" val="2445056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DC0381-1652-0E1B-54B8-F4FF47F5E60D}"/>
              </a:ext>
            </a:extLst>
          </p:cNvPr>
          <p:cNvSpPr>
            <a:spLocks noGrp="1"/>
          </p:cNvSpPr>
          <p:nvPr>
            <p:ph type="title"/>
          </p:nvPr>
        </p:nvSpPr>
        <p:spPr/>
        <p:txBody>
          <a:bodyPr/>
          <a:lstStyle/>
          <a:p>
            <a:r>
              <a:rPr lang="en-GB" dirty="0"/>
              <a:t>PINN implementation</a:t>
            </a:r>
          </a:p>
        </p:txBody>
      </p:sp>
      <p:sp>
        <p:nvSpPr>
          <p:cNvPr id="3" name="Segnaposto contenuto 2">
            <a:extLst>
              <a:ext uri="{FF2B5EF4-FFF2-40B4-BE49-F238E27FC236}">
                <a16:creationId xmlns:a16="http://schemas.microsoft.com/office/drawing/2014/main" id="{37770F8F-8843-8902-7C69-9D76CCA8AC5B}"/>
              </a:ext>
            </a:extLst>
          </p:cNvPr>
          <p:cNvSpPr>
            <a:spLocks noGrp="1"/>
          </p:cNvSpPr>
          <p:nvPr>
            <p:ph idx="1"/>
          </p:nvPr>
        </p:nvSpPr>
        <p:spPr>
          <a:xfrm>
            <a:off x="600075" y="1795850"/>
            <a:ext cx="10990263" cy="411641"/>
          </a:xfrm>
        </p:spPr>
        <p:txBody>
          <a:bodyPr/>
          <a:lstStyle/>
          <a:p>
            <a:pPr>
              <a:buFont typeface="Wingdings" panose="05000000000000000000" pitchFamily="2" charset="2"/>
              <a:buChar char="Ø"/>
            </a:pPr>
            <a:r>
              <a:rPr lang="en-GB" dirty="0"/>
              <a:t>We will see a Python implementation in detail in the next few days.</a:t>
            </a:r>
          </a:p>
          <a:p>
            <a:pPr>
              <a:buFont typeface="Wingdings" panose="05000000000000000000" pitchFamily="2" charset="2"/>
              <a:buChar char="Ø"/>
            </a:pPr>
            <a:endParaRPr lang="en-GB" dirty="0"/>
          </a:p>
          <a:p>
            <a:pPr>
              <a:buFont typeface="Wingdings" panose="05000000000000000000" pitchFamily="2" charset="2"/>
              <a:buChar char="Ø"/>
            </a:pPr>
            <a:endParaRPr lang="en-GB" dirty="0"/>
          </a:p>
        </p:txBody>
      </p:sp>
      <p:sp>
        <p:nvSpPr>
          <p:cNvPr id="9" name="CasellaDiTesto 8">
            <a:extLst>
              <a:ext uri="{FF2B5EF4-FFF2-40B4-BE49-F238E27FC236}">
                <a16:creationId xmlns:a16="http://schemas.microsoft.com/office/drawing/2014/main" id="{36EF277C-7D32-CBE3-4C74-CCD297CED060}"/>
              </a:ext>
            </a:extLst>
          </p:cNvPr>
          <p:cNvSpPr txBox="1"/>
          <p:nvPr/>
        </p:nvSpPr>
        <p:spPr>
          <a:xfrm>
            <a:off x="600075" y="2339297"/>
            <a:ext cx="6096000" cy="923330"/>
          </a:xfrm>
          <a:prstGeom prst="rect">
            <a:avLst/>
          </a:prstGeom>
          <a:noFill/>
        </p:spPr>
        <p:txBody>
          <a:bodyPr wrap="square">
            <a:spAutoFit/>
          </a:bodyPr>
          <a:lstStyle/>
          <a:p>
            <a:pPr>
              <a:buFont typeface="Wingdings" panose="05000000000000000000" pitchFamily="2" charset="2"/>
              <a:buChar char="Ø"/>
            </a:pPr>
            <a:r>
              <a:rPr lang="en-GB" dirty="0"/>
              <a:t>PREPARATION for the Python primer:							</a:t>
            </a:r>
          </a:p>
          <a:p>
            <a:pPr lvl="1">
              <a:buFont typeface="Wingdings" panose="05000000000000000000" pitchFamily="2" charset="2"/>
              <a:buChar char="Ø"/>
            </a:pPr>
            <a:r>
              <a:rPr lang="en-GB" u="sng" dirty="0"/>
              <a:t>Install Spyder </a:t>
            </a:r>
            <a:r>
              <a:rPr lang="en-GB" dirty="0"/>
              <a:t>(</a:t>
            </a:r>
            <a:r>
              <a:rPr lang="en-GB" dirty="0">
                <a:hlinkClick r:id="rId2"/>
              </a:rPr>
              <a:t>https://www.spyder-ide.org/</a:t>
            </a:r>
            <a:r>
              <a:rPr lang="en-GB" dirty="0"/>
              <a:t>)</a:t>
            </a:r>
          </a:p>
        </p:txBody>
      </p:sp>
      <p:sp>
        <p:nvSpPr>
          <p:cNvPr id="11" name="CasellaDiTesto 10">
            <a:extLst>
              <a:ext uri="{FF2B5EF4-FFF2-40B4-BE49-F238E27FC236}">
                <a16:creationId xmlns:a16="http://schemas.microsoft.com/office/drawing/2014/main" id="{B48E4D13-8E40-25B4-846F-DC7314BE6A7F}"/>
              </a:ext>
            </a:extLst>
          </p:cNvPr>
          <p:cNvSpPr txBox="1"/>
          <p:nvPr/>
        </p:nvSpPr>
        <p:spPr>
          <a:xfrm>
            <a:off x="5957455" y="2616296"/>
            <a:ext cx="6096000" cy="646331"/>
          </a:xfrm>
          <a:prstGeom prst="rect">
            <a:avLst/>
          </a:prstGeom>
          <a:noFill/>
        </p:spPr>
        <p:txBody>
          <a:bodyPr wrap="square">
            <a:spAutoFit/>
          </a:bodyPr>
          <a:lstStyle/>
          <a:p>
            <a:r>
              <a:rPr lang="en-GB" dirty="0"/>
              <a:t>						</a:t>
            </a:r>
          </a:p>
          <a:p>
            <a:pPr lvl="1">
              <a:buFont typeface="Wingdings" panose="05000000000000000000" pitchFamily="2" charset="2"/>
              <a:buChar char="Ø"/>
            </a:pPr>
            <a:r>
              <a:rPr lang="en-GB" u="sng" dirty="0"/>
              <a:t>Google </a:t>
            </a:r>
            <a:r>
              <a:rPr lang="en-GB" u="sng" dirty="0" err="1"/>
              <a:t>Colab</a:t>
            </a:r>
            <a:r>
              <a:rPr lang="en-GB" u="sng" dirty="0"/>
              <a:t> </a:t>
            </a:r>
            <a:r>
              <a:rPr lang="en-GB" dirty="0"/>
              <a:t>(</a:t>
            </a:r>
            <a:r>
              <a:rPr lang="en-GB" dirty="0">
                <a:hlinkClick r:id="rId3"/>
              </a:rPr>
              <a:t>https://colab.research.google.com/</a:t>
            </a:r>
            <a:r>
              <a:rPr lang="en-GB" dirty="0"/>
              <a:t>)</a:t>
            </a:r>
          </a:p>
        </p:txBody>
      </p:sp>
      <p:pic>
        <p:nvPicPr>
          <p:cNvPr id="13" name="Immagine 12">
            <a:extLst>
              <a:ext uri="{FF2B5EF4-FFF2-40B4-BE49-F238E27FC236}">
                <a16:creationId xmlns:a16="http://schemas.microsoft.com/office/drawing/2014/main" id="{7ECEA1BF-6E8B-2D02-D1B5-CD3359A106E3}"/>
              </a:ext>
            </a:extLst>
          </p:cNvPr>
          <p:cNvPicPr>
            <a:picLocks noChangeAspect="1"/>
          </p:cNvPicPr>
          <p:nvPr/>
        </p:nvPicPr>
        <p:blipFill>
          <a:blip r:embed="rId4"/>
          <a:srcRect/>
          <a:stretch/>
        </p:blipFill>
        <p:spPr>
          <a:xfrm>
            <a:off x="7340598" y="3513678"/>
            <a:ext cx="3154219" cy="3154219"/>
          </a:xfrm>
          <a:prstGeom prst="rect">
            <a:avLst/>
          </a:prstGeom>
        </p:spPr>
      </p:pic>
      <p:pic>
        <p:nvPicPr>
          <p:cNvPr id="6" name="Immagine 5" descr="Immagine che contiene modello, quadrato, Simmetria, pixel&#10;&#10;Descrizione generata automaticamente">
            <a:extLst>
              <a:ext uri="{FF2B5EF4-FFF2-40B4-BE49-F238E27FC236}">
                <a16:creationId xmlns:a16="http://schemas.microsoft.com/office/drawing/2014/main" id="{FADB52A8-0740-2BE3-B98F-AA1C40456FCB}"/>
              </a:ext>
            </a:extLst>
          </p:cNvPr>
          <p:cNvPicPr>
            <a:picLocks noChangeAspect="1"/>
          </p:cNvPicPr>
          <p:nvPr/>
        </p:nvPicPr>
        <p:blipFill>
          <a:blip r:embed="rId5"/>
          <a:stretch>
            <a:fillRect/>
          </a:stretch>
        </p:blipFill>
        <p:spPr>
          <a:xfrm>
            <a:off x="1697183" y="3429000"/>
            <a:ext cx="3154220" cy="3154220"/>
          </a:xfrm>
          <a:prstGeom prst="rect">
            <a:avLst/>
          </a:prstGeom>
        </p:spPr>
      </p:pic>
    </p:spTree>
    <p:extLst>
      <p:ext uri="{BB962C8B-B14F-4D97-AF65-F5344CB8AC3E}">
        <p14:creationId xmlns:p14="http://schemas.microsoft.com/office/powerpoint/2010/main" val="4289693244"/>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Laudato_UniNaArch.potx" id="{96705406-BCAE-41FF-864F-41EDCF1CB18F}" vid="{5FB74D8F-43A4-4329-9A42-6672DE96645F}"/>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Laudato_MOGE2025</Template>
  <TotalTime>640</TotalTime>
  <Words>1626</Words>
  <Application>Microsoft Office PowerPoint</Application>
  <PresentationFormat>Widescreen</PresentationFormat>
  <Paragraphs>229</Paragraphs>
  <Slides>30</Slides>
  <Notes>0</Notes>
  <HiddenSlides>3</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30</vt:i4>
      </vt:variant>
    </vt:vector>
  </HeadingPairs>
  <TitlesOfParts>
    <vt:vector size="35" baseType="lpstr">
      <vt:lpstr>Calibri</vt:lpstr>
      <vt:lpstr>Wingdings</vt:lpstr>
      <vt:lpstr>Arial</vt:lpstr>
      <vt:lpstr>Figtree</vt:lpstr>
      <vt:lpstr>Office-tema</vt:lpstr>
      <vt:lpstr>Introduction to Machine Learning and Optimization</vt:lpstr>
      <vt:lpstr>Overview of the lectures</vt:lpstr>
      <vt:lpstr>What is Machine Learning? </vt:lpstr>
      <vt:lpstr>MODULE 1  INTRODUCTION TO NEURAL NETWORKS</vt:lpstr>
      <vt:lpstr>Neural Networks - Neurons</vt:lpstr>
      <vt:lpstr>Fully connected neural network</vt:lpstr>
      <vt:lpstr>Gradient descent</vt:lpstr>
      <vt:lpstr>Be aware of overfitting</vt:lpstr>
      <vt:lpstr>Neural Network Architectures (two examples)</vt:lpstr>
      <vt:lpstr>What are they good at?</vt:lpstr>
      <vt:lpstr>What are they bad at?</vt:lpstr>
      <vt:lpstr>MODULE 2  INTRODUCTION TO REGRESSION PROBLEMS AND OPTIMIZATION</vt:lpstr>
      <vt:lpstr>What is a regression problem?</vt:lpstr>
      <vt:lpstr>Linear regression</vt:lpstr>
      <vt:lpstr>NOT TO BE CONFUSED !! </vt:lpstr>
      <vt:lpstr>Linear regression: cost function</vt:lpstr>
      <vt:lpstr>MODULE 3  CASE STUDY: Neural network model of a reverberation time in a shoebox</vt:lpstr>
      <vt:lpstr>Case study: acoustic reverberation time</vt:lpstr>
      <vt:lpstr>Surrogate models</vt:lpstr>
      <vt:lpstr>Fast optimization with neural networks</vt:lpstr>
      <vt:lpstr>MODULE 4  Neural Network Implementation in PUG (GH)</vt:lpstr>
      <vt:lpstr>1. Data pre-processing</vt:lpstr>
      <vt:lpstr>2. Define the neural network architecture</vt:lpstr>
      <vt:lpstr>3. Compile the model</vt:lpstr>
      <vt:lpstr>4. Train the neural network</vt:lpstr>
      <vt:lpstr>Be aware of overfitting</vt:lpstr>
      <vt:lpstr>Good luck with your implementation!</vt:lpstr>
      <vt:lpstr>Physics-Informed Neural Network (PINN)</vt:lpstr>
      <vt:lpstr>Example: 1D Wave Equation</vt:lpstr>
      <vt:lpstr>PINN implementation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Marco Laudato</dc:creator>
  <cp:lastModifiedBy>Marco Laudato</cp:lastModifiedBy>
  <cp:revision>18</cp:revision>
  <dcterms:created xsi:type="dcterms:W3CDTF">2025-06-16T14:02:25Z</dcterms:created>
  <dcterms:modified xsi:type="dcterms:W3CDTF">2026-03-26T00:44:22Z</dcterms:modified>
</cp:coreProperties>
</file>